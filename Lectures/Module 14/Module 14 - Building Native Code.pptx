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regular.fntdata"/><Relationship Id="rId21" Type="http://schemas.openxmlformats.org/officeDocument/2006/relationships/slide" Target="slides/slide16.xml"/><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Montserrat-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66b6b8afa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66b6b8afa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66b6b8afa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66b6b8afa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66b6b8afa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66b6b8afa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66b6b8afa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66b6b8afa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66b6b8afa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66b6b8afa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66b6b8afa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66b6b8afa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66b6b8afa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66b6b8afa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66b6b8afa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66b6b8afa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66b6b8afa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66b6b8afa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66b6b8afa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66b6b8afa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66b6b8afa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66b6b8afa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66b6b8afa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66b6b8afa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66b6b8afa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66b6b8afa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66b6b8afa6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66b6b8afa6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66b6b8afa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66b6b8afa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14: Building Native Code</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SER 423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About Native Code</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We’ve talked a lot about how react is an abstraction of both native languages to provide a </a:t>
            </a:r>
            <a:r>
              <a:rPr lang="en"/>
              <a:t>cross</a:t>
            </a:r>
            <a:r>
              <a:rPr lang="en"/>
              <a:t> </a:t>
            </a:r>
            <a:r>
              <a:rPr lang="en"/>
              <a:t>platform</a:t>
            </a:r>
            <a:r>
              <a:rPr lang="en"/>
              <a:t> solution</a:t>
            </a:r>
            <a:endParaRPr/>
          </a:p>
          <a:p>
            <a:pPr indent="-311150" lvl="0" marL="457200" rtl="0" algn="l">
              <a:spcBef>
                <a:spcPts val="0"/>
              </a:spcBef>
              <a:spcAft>
                <a:spcPts val="0"/>
              </a:spcAft>
              <a:buSzPts val="1300"/>
              <a:buChar char="●"/>
            </a:pPr>
            <a:r>
              <a:rPr lang="en"/>
              <a:t>This was </a:t>
            </a:r>
            <a:r>
              <a:rPr lang="en"/>
              <a:t>particularly</a:t>
            </a:r>
            <a:r>
              <a:rPr lang="en"/>
              <a:t> important when looking at using plugins</a:t>
            </a:r>
            <a:endParaRPr/>
          </a:p>
          <a:p>
            <a:pPr indent="-311150" lvl="0" marL="457200" rtl="0" algn="l">
              <a:spcBef>
                <a:spcPts val="0"/>
              </a:spcBef>
              <a:spcAft>
                <a:spcPts val="0"/>
              </a:spcAft>
              <a:buSzPts val="1300"/>
              <a:buChar char="●"/>
            </a:pPr>
            <a:r>
              <a:rPr lang="en"/>
              <a:t>What we’ve been making are called hybrid apps</a:t>
            </a:r>
            <a:endParaRPr/>
          </a:p>
          <a:p>
            <a:pPr indent="-298450" lvl="1" marL="914400" rtl="0" algn="l">
              <a:spcBef>
                <a:spcPts val="0"/>
              </a:spcBef>
              <a:spcAft>
                <a:spcPts val="0"/>
              </a:spcAft>
              <a:buSzPts val="1100"/>
              <a:buChar char="○"/>
            </a:pPr>
            <a:r>
              <a:rPr lang="en"/>
              <a:t>That is, they can run on either platform</a:t>
            </a:r>
            <a:endParaRPr/>
          </a:p>
          <a:p>
            <a:pPr indent="-311150" lvl="0" marL="457200" rtl="0" algn="l">
              <a:spcBef>
                <a:spcPts val="0"/>
              </a:spcBef>
              <a:spcAft>
                <a:spcPts val="0"/>
              </a:spcAft>
              <a:buSzPts val="1300"/>
              <a:buChar char="●"/>
            </a:pPr>
            <a:r>
              <a:rPr lang="en"/>
              <a:t>The problem again is what if we want functionality that we can’t access in react</a:t>
            </a:r>
            <a:endParaRPr/>
          </a:p>
          <a:p>
            <a:pPr indent="-311150" lvl="0" marL="457200" rtl="0" algn="l">
              <a:spcBef>
                <a:spcPts val="0"/>
              </a:spcBef>
              <a:spcAft>
                <a:spcPts val="0"/>
              </a:spcAft>
              <a:buSzPts val="1300"/>
              <a:buChar char="●"/>
            </a:pPr>
            <a:r>
              <a:rPr lang="en"/>
              <a:t>To get to that functionality we will need to build an app that has at least some native implementation</a:t>
            </a:r>
            <a:endParaRPr/>
          </a:p>
          <a:p>
            <a:pPr indent="-298450" lvl="1" marL="914400" rtl="0" algn="l">
              <a:spcBef>
                <a:spcPts val="0"/>
              </a:spcBef>
              <a:spcAft>
                <a:spcPts val="0"/>
              </a:spcAft>
              <a:buSzPts val="1100"/>
              <a:buChar char="○"/>
            </a:pPr>
            <a:r>
              <a:rPr lang="en"/>
              <a:t>This is the primary reason to do anything in native code</a:t>
            </a:r>
            <a:endParaRPr/>
          </a:p>
          <a:p>
            <a:pPr indent="-311150" lvl="0" marL="457200" rtl="0" algn="l">
              <a:spcBef>
                <a:spcPts val="0"/>
              </a:spcBef>
              <a:spcAft>
                <a:spcPts val="0"/>
              </a:spcAft>
              <a:buSzPts val="1300"/>
              <a:buChar char="●"/>
            </a:pPr>
            <a:r>
              <a:rPr lang="en"/>
              <a:t>Because they use different APIs, we will need to use different native functions for Android VS iOS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Native Code from JavaScript</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apps we’re building are called hybrid apps, both because they can be exported to both platforms, but the flipside of that is that they run both JavaScript and native code</a:t>
            </a:r>
            <a:endParaRPr/>
          </a:p>
          <a:p>
            <a:pPr indent="-298450" lvl="1" marL="914400" rtl="0" algn="l">
              <a:spcBef>
                <a:spcPts val="0"/>
              </a:spcBef>
              <a:spcAft>
                <a:spcPts val="0"/>
              </a:spcAft>
              <a:buSzPts val="1100"/>
              <a:buChar char="○"/>
            </a:pPr>
            <a:r>
              <a:rPr lang="en"/>
              <a:t>Remember the two threads and the bridge from the performance module?</a:t>
            </a:r>
            <a:endParaRPr/>
          </a:p>
          <a:p>
            <a:pPr indent="-311150" lvl="0" marL="457200" rtl="0" algn="l">
              <a:spcBef>
                <a:spcPts val="0"/>
              </a:spcBef>
              <a:spcAft>
                <a:spcPts val="0"/>
              </a:spcAft>
              <a:buSzPts val="1300"/>
              <a:buChar char="●"/>
            </a:pPr>
            <a:r>
              <a:rPr lang="en"/>
              <a:t>You will usually still use react for your UI</a:t>
            </a:r>
            <a:endParaRPr/>
          </a:p>
          <a:p>
            <a:pPr indent="-298450" lvl="1" marL="914400" rtl="0" algn="l">
              <a:spcBef>
                <a:spcPts val="0"/>
              </a:spcBef>
              <a:spcAft>
                <a:spcPts val="0"/>
              </a:spcAft>
              <a:buSzPts val="1100"/>
              <a:buChar char="○"/>
            </a:pPr>
            <a:r>
              <a:rPr lang="en"/>
              <a:t>That’s what react is built for!</a:t>
            </a:r>
            <a:endParaRPr/>
          </a:p>
          <a:p>
            <a:pPr indent="-311150" lvl="0" marL="457200" rtl="0" algn="l">
              <a:spcBef>
                <a:spcPts val="0"/>
              </a:spcBef>
              <a:spcAft>
                <a:spcPts val="0"/>
              </a:spcAft>
              <a:buSzPts val="1300"/>
              <a:buChar char="●"/>
            </a:pPr>
            <a:r>
              <a:rPr lang="en"/>
              <a:t>It is for back end functionality that you dip into native code</a:t>
            </a:r>
            <a:endParaRPr/>
          </a:p>
          <a:p>
            <a:pPr indent="-311150" lvl="0" marL="457200" rtl="0" algn="l">
              <a:spcBef>
                <a:spcPts val="0"/>
              </a:spcBef>
              <a:spcAft>
                <a:spcPts val="0"/>
              </a:spcAft>
              <a:buSzPts val="1300"/>
              <a:buChar char="●"/>
            </a:pPr>
            <a:r>
              <a:rPr lang="en"/>
              <a:t>You can import native functions into your JavaScript files by importing NativeModules from react-native</a:t>
            </a:r>
            <a:endParaRPr/>
          </a:p>
          <a:p>
            <a:pPr indent="-311150" lvl="0" marL="457200" rtl="0" algn="l">
              <a:spcBef>
                <a:spcPts val="0"/>
              </a:spcBef>
              <a:spcAft>
                <a:spcPts val="0"/>
              </a:spcAft>
              <a:buSzPts val="1300"/>
              <a:buChar char="●"/>
            </a:pPr>
            <a:r>
              <a:rPr lang="en"/>
              <a:t>This then gives you a simple object to work with that allows you to call the native functions</a:t>
            </a:r>
            <a:endParaRPr/>
          </a:p>
          <a:p>
            <a:pPr indent="-298450" lvl="1" marL="914400" rtl="0" algn="l">
              <a:spcBef>
                <a:spcPts val="0"/>
              </a:spcBef>
              <a:spcAft>
                <a:spcPts val="0"/>
              </a:spcAft>
              <a:buSzPts val="1100"/>
              <a:buChar char="○"/>
            </a:pPr>
            <a:r>
              <a:rPr lang="en"/>
              <a:t>This is the bridge between the threads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Native Android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Writing Android Functions</a:t>
            </a:r>
            <a:endParaRPr/>
          </a:p>
        </p:txBody>
      </p:sp>
      <p:sp>
        <p:nvSpPr>
          <p:cNvPr id="158" name="Google Shape;15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Native Android functions are written in Java, not JavaScript</a:t>
            </a:r>
            <a:endParaRPr/>
          </a:p>
          <a:p>
            <a:pPr indent="-298450" lvl="1" marL="914400" rtl="0" algn="l">
              <a:spcBef>
                <a:spcPts val="0"/>
              </a:spcBef>
              <a:spcAft>
                <a:spcPts val="0"/>
              </a:spcAft>
              <a:buSzPts val="1100"/>
              <a:buChar char="○"/>
            </a:pPr>
            <a:r>
              <a:rPr lang="en"/>
              <a:t>Kotlin might take over this soon, but for now it is compiled into native in order to be run</a:t>
            </a:r>
            <a:endParaRPr/>
          </a:p>
          <a:p>
            <a:pPr indent="-311150" lvl="0" marL="457200" rtl="0" algn="l">
              <a:spcBef>
                <a:spcPts val="0"/>
              </a:spcBef>
              <a:spcAft>
                <a:spcPts val="0"/>
              </a:spcAft>
              <a:buSzPts val="1300"/>
              <a:buChar char="●"/>
            </a:pPr>
            <a:r>
              <a:rPr lang="en"/>
              <a:t>You’ll need to create your app as a pure react app, or eject it</a:t>
            </a:r>
            <a:endParaRPr/>
          </a:p>
          <a:p>
            <a:pPr indent="-311150" lvl="0" marL="457200" rtl="0" algn="l">
              <a:spcBef>
                <a:spcPts val="0"/>
              </a:spcBef>
              <a:spcAft>
                <a:spcPts val="0"/>
              </a:spcAft>
              <a:buSzPts val="1300"/>
              <a:buChar char="●"/>
            </a:pPr>
            <a:r>
              <a:rPr lang="en"/>
              <a:t>This gives you an Android folder and the native code needs to go in there</a:t>
            </a:r>
            <a:endParaRPr/>
          </a:p>
          <a:p>
            <a:pPr indent="-311150" lvl="0" marL="457200" rtl="0" algn="l">
              <a:spcBef>
                <a:spcPts val="0"/>
              </a:spcBef>
              <a:spcAft>
                <a:spcPts val="0"/>
              </a:spcAft>
              <a:buSzPts val="1300"/>
              <a:buChar char="●"/>
            </a:pPr>
            <a:r>
              <a:rPr lang="en"/>
              <a:t>You will first want to define your class, which needs to extend ReactContextBaseJavaModule</a:t>
            </a:r>
            <a:endParaRPr/>
          </a:p>
          <a:p>
            <a:pPr indent="-311150" lvl="0" marL="457200" rtl="0" algn="l">
              <a:spcBef>
                <a:spcPts val="0"/>
              </a:spcBef>
              <a:spcAft>
                <a:spcPts val="0"/>
              </a:spcAft>
              <a:buSzPts val="1300"/>
              <a:buChar char="●"/>
            </a:pPr>
            <a:r>
              <a:rPr lang="en"/>
              <a:t>This has a getName method you need to override</a:t>
            </a:r>
            <a:endParaRPr/>
          </a:p>
          <a:p>
            <a:pPr indent="-298450" lvl="1" marL="914400" rtl="0" algn="l">
              <a:spcBef>
                <a:spcPts val="0"/>
              </a:spcBef>
              <a:spcAft>
                <a:spcPts val="0"/>
              </a:spcAft>
              <a:buSzPts val="1100"/>
              <a:buChar char="○"/>
            </a:pPr>
            <a:r>
              <a:rPr lang="en"/>
              <a:t>This name is how this function will be identified in react</a:t>
            </a:r>
            <a:endParaRPr/>
          </a:p>
          <a:p>
            <a:pPr indent="-311150" lvl="0" marL="457200" rtl="0" algn="l">
              <a:spcBef>
                <a:spcPts val="0"/>
              </a:spcBef>
              <a:spcAft>
                <a:spcPts val="0"/>
              </a:spcAft>
              <a:buSzPts val="1300"/>
              <a:buChar char="●"/>
            </a:pPr>
            <a:r>
              <a:rPr lang="en"/>
              <a:t>After implementing this and your functions, we have to register the module with the app</a:t>
            </a:r>
            <a:endParaRPr/>
          </a:p>
          <a:p>
            <a:pPr indent="-311150" lvl="0" marL="457200" rtl="0" algn="l">
              <a:spcBef>
                <a:spcPts val="0"/>
              </a:spcBef>
              <a:spcAft>
                <a:spcPts val="0"/>
              </a:spcAft>
              <a:buSzPts val="1300"/>
              <a:buChar char="●"/>
            </a:pPr>
            <a:r>
              <a:rPr lang="en"/>
              <a:t>You’ll need a class that implements the ReactPackage interface and adds your module to the list</a:t>
            </a:r>
            <a:endParaRPr/>
          </a:p>
          <a:p>
            <a:pPr indent="-311150" lvl="0" marL="457200" rtl="0" algn="l">
              <a:spcBef>
                <a:spcPts val="0"/>
              </a:spcBef>
              <a:spcAft>
                <a:spcPts val="0"/>
              </a:spcAft>
              <a:buSzPts val="1300"/>
              <a:buChar char="●"/>
            </a:pPr>
            <a:r>
              <a:rPr lang="en"/>
              <a:t>Finally, you need to update MainApplication to take your new package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Native Function</a:t>
            </a:r>
            <a:endParaRPr/>
          </a:p>
        </p:txBody>
      </p:sp>
      <p:pic>
        <p:nvPicPr>
          <p:cNvPr id="164" name="Google Shape;164;p18"/>
          <p:cNvPicPr preferRelativeResize="0"/>
          <p:nvPr/>
        </p:nvPicPr>
        <p:blipFill>
          <a:blip r:embed="rId3">
            <a:alphaModFix/>
          </a:blip>
          <a:stretch>
            <a:fillRect/>
          </a:stretch>
        </p:blipFill>
        <p:spPr>
          <a:xfrm>
            <a:off x="1092864" y="1307850"/>
            <a:ext cx="7448174" cy="3835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Creating the Example Package</a:t>
            </a:r>
            <a:endParaRPr/>
          </a:p>
        </p:txBody>
      </p:sp>
      <p:pic>
        <p:nvPicPr>
          <p:cNvPr id="170" name="Google Shape;170;p19"/>
          <p:cNvPicPr preferRelativeResize="0"/>
          <p:nvPr/>
        </p:nvPicPr>
        <p:blipFill>
          <a:blip r:embed="rId3">
            <a:alphaModFix/>
          </a:blip>
          <a:stretch>
            <a:fillRect/>
          </a:stretch>
        </p:blipFill>
        <p:spPr>
          <a:xfrm>
            <a:off x="1082913" y="1307850"/>
            <a:ext cx="7468082" cy="383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Registering the Package</a:t>
            </a:r>
            <a:endParaRPr/>
          </a:p>
        </p:txBody>
      </p:sp>
      <p:pic>
        <p:nvPicPr>
          <p:cNvPr id="176" name="Google Shape;176;p20"/>
          <p:cNvPicPr preferRelativeResize="0"/>
          <p:nvPr/>
        </p:nvPicPr>
        <p:blipFill>
          <a:blip r:embed="rId3">
            <a:alphaModFix/>
          </a:blip>
          <a:stretch>
            <a:fillRect/>
          </a:stretch>
        </p:blipFill>
        <p:spPr>
          <a:xfrm>
            <a:off x="1215800" y="1307850"/>
            <a:ext cx="6712388" cy="3835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This Module in React</a:t>
            </a:r>
            <a:endParaRPr/>
          </a:p>
        </p:txBody>
      </p:sp>
      <p:pic>
        <p:nvPicPr>
          <p:cNvPr id="182" name="Google Shape;182;p21"/>
          <p:cNvPicPr preferRelativeResize="0"/>
          <p:nvPr/>
        </p:nvPicPr>
        <p:blipFill>
          <a:blip r:embed="rId3">
            <a:alphaModFix/>
          </a:blip>
          <a:stretch>
            <a:fillRect/>
          </a:stretch>
        </p:blipFill>
        <p:spPr>
          <a:xfrm>
            <a:off x="3101676" y="1307850"/>
            <a:ext cx="2940655" cy="3835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Native iOS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Writing iOS Functions</a:t>
            </a:r>
            <a:endParaRPr/>
          </a:p>
        </p:txBody>
      </p:sp>
      <p:sp>
        <p:nvSpPr>
          <p:cNvPr id="193" name="Google Shape;193;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iOS native code is typically written in Swift</a:t>
            </a:r>
            <a:endParaRPr/>
          </a:p>
          <a:p>
            <a:pPr indent="-298450" lvl="1" marL="914400" rtl="0" algn="l">
              <a:spcBef>
                <a:spcPts val="0"/>
              </a:spcBef>
              <a:spcAft>
                <a:spcPts val="0"/>
              </a:spcAft>
              <a:buSzPts val="1100"/>
              <a:buChar char="○"/>
            </a:pPr>
            <a:r>
              <a:rPr lang="en"/>
              <a:t>You could use Objective-C, if you’re brave. Some react implementations are abstractions of Objective-C</a:t>
            </a:r>
            <a:endParaRPr/>
          </a:p>
          <a:p>
            <a:pPr indent="-311150" lvl="0" marL="457200" rtl="0" algn="l">
              <a:spcBef>
                <a:spcPts val="0"/>
              </a:spcBef>
              <a:spcAft>
                <a:spcPts val="0"/>
              </a:spcAft>
              <a:buSzPts val="1300"/>
              <a:buChar char="●"/>
            </a:pPr>
            <a:r>
              <a:rPr lang="en"/>
              <a:t>However, the book example is in Objective-C and it is still used frequently</a:t>
            </a:r>
            <a:endParaRPr/>
          </a:p>
          <a:p>
            <a:pPr indent="-298450" lvl="1" marL="914400" rtl="0" algn="l">
              <a:spcBef>
                <a:spcPts val="0"/>
              </a:spcBef>
              <a:spcAft>
                <a:spcPts val="0"/>
              </a:spcAft>
              <a:buSzPts val="1100"/>
              <a:buChar char="○"/>
            </a:pPr>
            <a:r>
              <a:rPr lang="en"/>
              <a:t>Using Swift will actually create an Objective-C header file to allow the class to be accessed by both languages</a:t>
            </a:r>
            <a:endParaRPr/>
          </a:p>
          <a:p>
            <a:pPr indent="-298450" lvl="1" marL="914400" rtl="0" algn="l">
              <a:spcBef>
                <a:spcPts val="0"/>
              </a:spcBef>
              <a:spcAft>
                <a:spcPts val="0"/>
              </a:spcAft>
              <a:buSzPts val="1100"/>
              <a:buChar char="○"/>
            </a:pPr>
            <a:r>
              <a:rPr lang="en"/>
              <a:t>Using Swift technically still uses Objective-C, but you can use Swift as your primary language</a:t>
            </a:r>
            <a:endParaRPr/>
          </a:p>
          <a:p>
            <a:pPr indent="-311150" lvl="0" marL="457200" rtl="0" algn="l">
              <a:spcBef>
                <a:spcPts val="0"/>
              </a:spcBef>
              <a:spcAft>
                <a:spcPts val="0"/>
              </a:spcAft>
              <a:buSzPts val="1300"/>
              <a:buChar char="●"/>
            </a:pPr>
            <a:r>
              <a:rPr lang="en"/>
              <a:t>When you create a new Objective-C class, you will get both a header and an implementation (.m) file</a:t>
            </a:r>
            <a:endParaRPr/>
          </a:p>
          <a:p>
            <a:pPr indent="-311150" lvl="0" marL="457200" rtl="0" algn="l">
              <a:spcBef>
                <a:spcPts val="0"/>
              </a:spcBef>
              <a:spcAft>
                <a:spcPts val="0"/>
              </a:spcAft>
              <a:buSzPts val="1300"/>
              <a:buChar char="●"/>
            </a:pPr>
            <a:r>
              <a:rPr lang="en"/>
              <a:t>The header file is where we’ll need to import the bridge</a:t>
            </a:r>
            <a:endParaRPr/>
          </a:p>
          <a:p>
            <a:pPr indent="-311150" lvl="0" marL="457200" rtl="0" algn="l">
              <a:spcBef>
                <a:spcPts val="0"/>
              </a:spcBef>
              <a:spcAft>
                <a:spcPts val="0"/>
              </a:spcAft>
              <a:buSzPts val="1300"/>
              <a:buChar char="●"/>
            </a:pPr>
            <a:r>
              <a:rPr lang="en"/>
              <a:t>The implementation file is obviously where we implement our functionality</a:t>
            </a:r>
            <a:endParaRPr/>
          </a:p>
          <a:p>
            <a:pPr indent="-311150" lvl="0" marL="457200" rtl="0" algn="l">
              <a:spcBef>
                <a:spcPts val="0"/>
              </a:spcBef>
              <a:spcAft>
                <a:spcPts val="0"/>
              </a:spcAft>
              <a:buSzPts val="1300"/>
              <a:buChar char="●"/>
            </a:pPr>
            <a:r>
              <a:rPr lang="en"/>
              <a:t>It is also where we register it with the react bridge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Header File</a:t>
            </a:r>
            <a:endParaRPr/>
          </a:p>
        </p:txBody>
      </p:sp>
      <p:pic>
        <p:nvPicPr>
          <p:cNvPr id="199" name="Google Shape;199;p24"/>
          <p:cNvPicPr preferRelativeResize="0"/>
          <p:nvPr/>
        </p:nvPicPr>
        <p:blipFill>
          <a:blip r:embed="rId3">
            <a:alphaModFix/>
          </a:blip>
          <a:stretch>
            <a:fillRect/>
          </a:stretch>
        </p:blipFill>
        <p:spPr>
          <a:xfrm>
            <a:off x="1575775" y="1539438"/>
            <a:ext cx="5992450" cy="2064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Implementation File</a:t>
            </a:r>
            <a:endParaRPr/>
          </a:p>
        </p:txBody>
      </p:sp>
      <p:pic>
        <p:nvPicPr>
          <p:cNvPr id="205" name="Google Shape;205;p25"/>
          <p:cNvPicPr preferRelativeResize="0"/>
          <p:nvPr/>
        </p:nvPicPr>
        <p:blipFill>
          <a:blip r:embed="rId3">
            <a:alphaModFix/>
          </a:blip>
          <a:stretch>
            <a:fillRect/>
          </a:stretch>
        </p:blipFill>
        <p:spPr>
          <a:xfrm>
            <a:off x="706650" y="1307850"/>
            <a:ext cx="7730690" cy="383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Usage in React</a:t>
            </a:r>
            <a:endParaRPr/>
          </a:p>
        </p:txBody>
      </p:sp>
      <p:pic>
        <p:nvPicPr>
          <p:cNvPr id="211" name="Google Shape;211;p26"/>
          <p:cNvPicPr preferRelativeResize="0"/>
          <p:nvPr/>
        </p:nvPicPr>
        <p:blipFill>
          <a:blip r:embed="rId3">
            <a:alphaModFix/>
          </a:blip>
          <a:stretch>
            <a:fillRect/>
          </a:stretch>
        </p:blipFill>
        <p:spPr>
          <a:xfrm>
            <a:off x="3089850" y="1307850"/>
            <a:ext cx="2964309" cy="3835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Final Thoughts</a:t>
            </a:r>
            <a:endParaRPr/>
          </a:p>
        </p:txBody>
      </p:sp>
      <p:sp>
        <p:nvSpPr>
          <p:cNvPr id="217" name="Google Shape;217;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Remember that the native thread is much faster than the JavaScript one</a:t>
            </a:r>
            <a:endParaRPr/>
          </a:p>
          <a:p>
            <a:pPr indent="-311150" lvl="0" marL="457200" rtl="0" algn="l">
              <a:spcBef>
                <a:spcPts val="0"/>
              </a:spcBef>
              <a:spcAft>
                <a:spcPts val="0"/>
              </a:spcAft>
              <a:buSzPts val="1300"/>
              <a:buChar char="●"/>
            </a:pPr>
            <a:r>
              <a:rPr lang="en"/>
              <a:t>Also remember that the bridge is the bottleneck, minimize what you pass across it</a:t>
            </a:r>
            <a:endParaRPr/>
          </a:p>
          <a:p>
            <a:pPr indent="-311150" lvl="0" marL="457200" rtl="0" algn="l">
              <a:spcBef>
                <a:spcPts val="0"/>
              </a:spcBef>
              <a:spcAft>
                <a:spcPts val="0"/>
              </a:spcAft>
              <a:buSzPts val="1300"/>
              <a:buChar char="●"/>
            </a:pPr>
            <a:r>
              <a:rPr lang="en"/>
              <a:t>This means two things:</a:t>
            </a:r>
            <a:endParaRPr/>
          </a:p>
          <a:p>
            <a:pPr indent="-298450" lvl="1" marL="914400" rtl="0" algn="l">
              <a:spcBef>
                <a:spcPts val="0"/>
              </a:spcBef>
              <a:spcAft>
                <a:spcPts val="0"/>
              </a:spcAft>
              <a:buSzPts val="1100"/>
              <a:buChar char="○"/>
            </a:pPr>
            <a:r>
              <a:rPr lang="en"/>
              <a:t>Only use native code for heavy lifting tasks for the back end</a:t>
            </a:r>
            <a:endParaRPr/>
          </a:p>
          <a:p>
            <a:pPr indent="-298450" lvl="1" marL="914400" rtl="0" algn="l">
              <a:spcBef>
                <a:spcPts val="0"/>
              </a:spcBef>
              <a:spcAft>
                <a:spcPts val="0"/>
              </a:spcAft>
              <a:buSzPts val="1100"/>
              <a:buChar char="○"/>
            </a:pPr>
            <a:r>
              <a:rPr lang="en"/>
              <a:t>Keep your UI and front end in JavaScript</a:t>
            </a:r>
            <a:endParaRPr/>
          </a:p>
          <a:p>
            <a:pPr indent="-311150" lvl="0" marL="457200" rtl="0" algn="l">
              <a:spcBef>
                <a:spcPts val="0"/>
              </a:spcBef>
              <a:spcAft>
                <a:spcPts val="0"/>
              </a:spcAft>
              <a:buSzPts val="1300"/>
              <a:buChar char="●"/>
            </a:pPr>
            <a:r>
              <a:rPr lang="en"/>
              <a:t>You probably want a pure react native app</a:t>
            </a:r>
            <a:endParaRPr/>
          </a:p>
          <a:p>
            <a:pPr indent="-298450" lvl="1" marL="914400" rtl="0" algn="l">
              <a:spcBef>
                <a:spcPts val="0"/>
              </a:spcBef>
              <a:spcAft>
                <a:spcPts val="0"/>
              </a:spcAft>
              <a:buSzPts val="1100"/>
              <a:buChar char="○"/>
            </a:pPr>
            <a:r>
              <a:rPr lang="en"/>
              <a:t>Or eject it first</a:t>
            </a:r>
            <a:endParaRPr/>
          </a:p>
          <a:p>
            <a:pPr indent="-311150" lvl="0" marL="457200" rtl="0" algn="l">
              <a:spcBef>
                <a:spcPts val="0"/>
              </a:spcBef>
              <a:spcAft>
                <a:spcPts val="0"/>
              </a:spcAft>
              <a:buSzPts val="1300"/>
              <a:buChar char="●"/>
            </a:pPr>
            <a:r>
              <a:rPr lang="en"/>
              <a:t>Android and iOS apps have their own directory structure you’ll need to stick to</a:t>
            </a:r>
            <a:endParaRPr/>
          </a:p>
          <a:p>
            <a:pPr indent="-298450" lvl="1" marL="914400" rtl="0" algn="l">
              <a:spcBef>
                <a:spcPts val="0"/>
              </a:spcBef>
              <a:spcAft>
                <a:spcPts val="0"/>
              </a:spcAft>
              <a:buSzPts val="1100"/>
              <a:buChar char="○"/>
            </a:pPr>
            <a:r>
              <a:rPr lang="en"/>
              <a:t>iOS: </a:t>
            </a:r>
            <a:r>
              <a:rPr i="1" lang="en"/>
              <a:t>appName</a:t>
            </a:r>
            <a:r>
              <a:rPr lang="en"/>
              <a:t>/ios/</a:t>
            </a:r>
            <a:r>
              <a:rPr i="1" lang="en"/>
              <a:t>appName</a:t>
            </a:r>
            <a:r>
              <a:rPr lang="en"/>
              <a:t>/HelloManager.m</a:t>
            </a:r>
            <a:endParaRPr/>
          </a:p>
          <a:p>
            <a:pPr indent="-298450" lvl="1" marL="914400" rtl="0" algn="l">
              <a:spcBef>
                <a:spcPts val="0"/>
              </a:spcBef>
              <a:spcAft>
                <a:spcPts val="0"/>
              </a:spcAft>
              <a:buSzPts val="1100"/>
              <a:buChar char="○"/>
            </a:pPr>
            <a:r>
              <a:rPr lang="en"/>
              <a:t>Android: </a:t>
            </a:r>
            <a:r>
              <a:rPr i="1" lang="en"/>
              <a:t>appName</a:t>
            </a:r>
            <a:r>
              <a:rPr lang="en"/>
              <a:t>/android/app/src/main/java/com/</a:t>
            </a:r>
            <a:r>
              <a:rPr i="1" lang="en"/>
              <a:t>appName</a:t>
            </a:r>
            <a:r>
              <a:rPr lang="en"/>
              <a:t>/HelloManager.java</a:t>
            </a:r>
            <a:endParaRPr/>
          </a:p>
          <a:p>
            <a:pPr indent="-298450" lvl="1" marL="914400" rtl="0" algn="l">
              <a:spcBef>
                <a:spcPts val="0"/>
              </a:spcBef>
              <a:spcAft>
                <a:spcPts val="0"/>
              </a:spcAft>
              <a:buSzPts val="1100"/>
              <a:buChar char="○"/>
            </a:pPr>
            <a:r>
              <a:rPr lang="en"/>
              <a:t>Putting things in the wrong place will cause issues!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End of Building Native Code</a:t>
            </a:r>
            <a:endParaRPr/>
          </a:p>
        </p:txBody>
      </p:sp>
      <p:sp>
        <p:nvSpPr>
          <p:cNvPr id="223" name="Google Shape;223;p28"/>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That’s it for Module 14!</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