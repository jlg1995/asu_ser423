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5143500" cx="9144000"/>
  <p:notesSz cx="6858000" cy="9144000"/>
  <p:embeddedFontLst>
    <p:embeddedFont>
      <p:font typeface="Montserrat"/>
      <p:regular r:id="rId18"/>
      <p:bold r:id="rId19"/>
      <p:italic r:id="rId20"/>
      <p:boldItalic r:id="rId21"/>
    </p:embeddedFont>
    <p:embeddedFont>
      <p:font typeface="Lato"/>
      <p:regular r:id="rId22"/>
      <p:bold r:id="rId23"/>
      <p:italic r:id="rId24"/>
      <p:boldItalic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Montserrat-italic.fntdata"/><Relationship Id="rId22" Type="http://schemas.openxmlformats.org/officeDocument/2006/relationships/font" Target="fonts/Lato-regular.fntdata"/><Relationship Id="rId21" Type="http://schemas.openxmlformats.org/officeDocument/2006/relationships/font" Target="fonts/Montserrat-boldItalic.fntdata"/><Relationship Id="rId24" Type="http://schemas.openxmlformats.org/officeDocument/2006/relationships/font" Target="fonts/Lato-italic.fntdata"/><Relationship Id="rId23" Type="http://schemas.openxmlformats.org/officeDocument/2006/relationships/font" Target="fonts/Lato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5" Type="http://schemas.openxmlformats.org/officeDocument/2006/relationships/font" Target="fonts/Lato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font" Target="fonts/Montserrat-bold.fntdata"/><Relationship Id="rId18" Type="http://schemas.openxmlformats.org/officeDocument/2006/relationships/font" Target="fonts/Montserrat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15cbe92b751_0_1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15cbe92b751_0_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15cbe92b751_0_1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15cbe92b751_0_1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15cbe92b751_0_1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15cbe92b751_0_1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15cbe92b751_0_1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g15cbe92b751_0_1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15cbe92b751_0_1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g15cbe92b751_0_1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15cbe92b751_0_1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15cbe92b751_0_1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15cbe92b751_0_1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" name="Google Shape;172;g15cbe92b751_0_1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3558296f7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" name="Google Shape;178;g33558296f7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15cbe92b751_0_1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" name="Google Shape;184;g15cbe92b751_0_1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33558296f77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0" name="Google Shape;190;g33558296f77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15cbe92b751_0_1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" name="Google Shape;196;g15cbe92b751_0_1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rot="5400000">
            <a:off x="7500300" y="505"/>
            <a:ext cx="1643700" cy="1643700"/>
          </a:xfrm>
          <a:prstGeom prst="diagStripe">
            <a:avLst>
              <a:gd fmla="val 0" name="adj"/>
            </a:avLst>
          </a:prstGeom>
          <a:solidFill>
            <a:schemeClr val="lt1">
              <a:alpha val="303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0" y="490"/>
            <a:ext cx="5153705" cy="5134399"/>
            <a:chOff x="0" y="75"/>
            <a:chExt cx="5153705" cy="515295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455" y="-225"/>
              <a:ext cx="5152800" cy="51537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150" y="1145825"/>
              <a:ext cx="3996600" cy="3996900"/>
            </a:xfrm>
            <a:prstGeom prst="diagStripe">
              <a:avLst>
                <a:gd fmla="val 58774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-5400000">
              <a:off x="1646" y="-75"/>
              <a:ext cx="2299800" cy="23001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flipH="1">
              <a:off x="652821" y="590035"/>
              <a:ext cx="2300100" cy="2299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" name="Google Shape;16;p2"/>
          <p:cNvSpPr txBox="1"/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21" name="Google Shape;21;p3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" name="Google Shape;26;p3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3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3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3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" name="Google Shape;30;p3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3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3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3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3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3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" name="Google Shape;36;p3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" name="Google Shape;37;p3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" name="Google Shape;38;p3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9" name="Google Shape;39;p3"/>
          <p:cNvSpPr txBox="1"/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" name="Google Shape;40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oogle Shape;42;p4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43" name="Google Shape;43;p4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4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6" name="Google Shape;46;p4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7" name="Google Shape;47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Google Shape;49;p5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0" name="Google Shape;50;p5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5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53" name="Google Shape;53;p5"/>
          <p:cNvSpPr txBox="1"/>
          <p:nvPr>
            <p:ph idx="1" type="body"/>
          </p:nvPr>
        </p:nvSpPr>
        <p:spPr>
          <a:xfrm>
            <a:off x="1297500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5"/>
          <p:cNvSpPr txBox="1"/>
          <p:nvPr>
            <p:ph idx="2" type="body"/>
          </p:nvPr>
        </p:nvSpPr>
        <p:spPr>
          <a:xfrm>
            <a:off x="4933221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5" name="Google Shape;55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Google Shape;57;p6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8" name="Google Shape;58;p6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" name="Google Shape;59;p6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0" name="Google Shape;60;p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1" name="Google Shape;61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oogle Shape;63;p7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64" name="Google Shape;64;p7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7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7"/>
          <p:cNvSpPr txBox="1"/>
          <p:nvPr>
            <p:ph type="title"/>
          </p:nvPr>
        </p:nvSpPr>
        <p:spPr>
          <a:xfrm>
            <a:off x="1297500" y="393750"/>
            <a:ext cx="3798900" cy="149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7" name="Google Shape;67;p7"/>
          <p:cNvSpPr txBox="1"/>
          <p:nvPr>
            <p:ph idx="1" type="body"/>
          </p:nvPr>
        </p:nvSpPr>
        <p:spPr>
          <a:xfrm>
            <a:off x="1297500" y="1972550"/>
            <a:ext cx="3798900" cy="241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8" name="Google Shape;68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8"/>
          <p:cNvGrpSpPr/>
          <p:nvPr/>
        </p:nvGrpSpPr>
        <p:grpSpPr>
          <a:xfrm>
            <a:off x="4406400" y="0"/>
            <a:ext cx="4737600" cy="5143500"/>
            <a:chOff x="4406400" y="0"/>
            <a:chExt cx="4737600" cy="5143500"/>
          </a:xfrm>
        </p:grpSpPr>
        <p:sp>
          <p:nvSpPr>
            <p:cNvPr id="71" name="Google Shape;71;p8"/>
            <p:cNvSpPr/>
            <p:nvPr/>
          </p:nvSpPr>
          <p:spPr>
            <a:xfrm rot="5400000">
              <a:off x="4407900" y="-1500"/>
              <a:ext cx="47346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8"/>
            <p:cNvSpPr/>
            <p:nvPr/>
          </p:nvSpPr>
          <p:spPr>
            <a:xfrm rot="5400000">
              <a:off x="4840825" y="6000"/>
              <a:ext cx="42987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8"/>
            <p:cNvSpPr/>
            <p:nvPr/>
          </p:nvSpPr>
          <p:spPr>
            <a:xfrm rot="-5400000">
              <a:off x="5618399" y="123664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8"/>
            <p:cNvSpPr/>
            <p:nvPr/>
          </p:nvSpPr>
          <p:spPr>
            <a:xfrm flipH="1">
              <a:off x="5849857" y="144407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8"/>
            <p:cNvSpPr/>
            <p:nvPr/>
          </p:nvSpPr>
          <p:spPr>
            <a:xfrm rot="-5400000">
              <a:off x="5987081" y="246974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8"/>
            <p:cNvSpPr/>
            <p:nvPr/>
          </p:nvSpPr>
          <p:spPr>
            <a:xfrm flipH="1">
              <a:off x="6222115" y="267717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" name="Google Shape;77;p8"/>
            <p:cNvSpPr/>
            <p:nvPr/>
          </p:nvSpPr>
          <p:spPr>
            <a:xfrm rot="-5400000">
              <a:off x="6675341" y="186224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" name="Google Shape;78;p8"/>
            <p:cNvSpPr/>
            <p:nvPr/>
          </p:nvSpPr>
          <p:spPr>
            <a:xfrm flipH="1">
              <a:off x="6908099" y="206968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" name="Google Shape;79;p8"/>
            <p:cNvSpPr/>
            <p:nvPr/>
          </p:nvSpPr>
          <p:spPr>
            <a:xfrm rot="-5400000">
              <a:off x="6861141" y="247808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" name="Google Shape;80;p8"/>
            <p:cNvSpPr/>
            <p:nvPr/>
          </p:nvSpPr>
          <p:spPr>
            <a:xfrm flipH="1">
              <a:off x="7965266" y="269319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" name="Google Shape;81;p8"/>
            <p:cNvSpPr/>
            <p:nvPr/>
          </p:nvSpPr>
          <p:spPr>
            <a:xfrm flipH="1">
              <a:off x="8145082" y="330903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 rot="-5400000">
              <a:off x="7047599" y="309534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 flipH="1">
              <a:off x="7276649" y="330278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" name="Google Shape;84;p8"/>
            <p:cNvSpPr/>
            <p:nvPr/>
          </p:nvSpPr>
          <p:spPr>
            <a:xfrm rot="-5400000">
              <a:off x="7227414" y="37111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" name="Google Shape;85;p8"/>
            <p:cNvSpPr/>
            <p:nvPr/>
          </p:nvSpPr>
          <p:spPr>
            <a:xfrm flipH="1">
              <a:off x="7462448" y="391862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8"/>
            <p:cNvSpPr/>
            <p:nvPr/>
          </p:nvSpPr>
          <p:spPr>
            <a:xfrm rot="-5400000">
              <a:off x="8102491" y="37188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 flipH="1">
              <a:off x="8334533" y="392629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 rot="-5400000">
              <a:off x="8288290" y="433470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9" name="Google Shape;89;p8"/>
          <p:cNvSpPr txBox="1"/>
          <p:nvPr>
            <p:ph type="title"/>
          </p:nvPr>
        </p:nvSpPr>
        <p:spPr>
          <a:xfrm>
            <a:off x="823850" y="866775"/>
            <a:ext cx="4587000" cy="352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0" name="Google Shape;90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9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93" name="Google Shape;93;p9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9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5" name="Google Shape;95;p9"/>
          <p:cNvSpPr txBox="1"/>
          <p:nvPr>
            <p:ph type="title"/>
          </p:nvPr>
        </p:nvSpPr>
        <p:spPr>
          <a:xfrm>
            <a:off x="1297500" y="1658325"/>
            <a:ext cx="3036300" cy="175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6" name="Google Shape;96;p9"/>
          <p:cNvSpPr txBox="1"/>
          <p:nvPr>
            <p:ph idx="1" type="subTitle"/>
          </p:nvPr>
        </p:nvSpPr>
        <p:spPr>
          <a:xfrm>
            <a:off x="1297500" y="3538000"/>
            <a:ext cx="30363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97" name="Google Shape;97;p9"/>
          <p:cNvSpPr txBox="1"/>
          <p:nvPr>
            <p:ph idx="2" type="body"/>
          </p:nvPr>
        </p:nvSpPr>
        <p:spPr>
          <a:xfrm>
            <a:off x="4648200" y="1696600"/>
            <a:ext cx="3676800" cy="234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8" name="Google Shape;98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10"/>
          <p:cNvGrpSpPr/>
          <p:nvPr/>
        </p:nvGrpSpPr>
        <p:grpSpPr>
          <a:xfrm>
            <a:off x="0" y="4128572"/>
            <a:ext cx="698925" cy="684657"/>
            <a:chOff x="0" y="3785672"/>
            <a:chExt cx="698925" cy="684657"/>
          </a:xfrm>
        </p:grpSpPr>
        <p:sp>
          <p:nvSpPr>
            <p:cNvPr id="101" name="Google Shape;101;p10"/>
            <p:cNvSpPr/>
            <p:nvPr/>
          </p:nvSpPr>
          <p:spPr>
            <a:xfrm rot="-5400000">
              <a:off x="0" y="3785672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10"/>
            <p:cNvSpPr/>
            <p:nvPr/>
          </p:nvSpPr>
          <p:spPr>
            <a:xfrm flipH="1">
              <a:off x="154125" y="3925529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3" name="Google Shape;103;p10"/>
          <p:cNvSpPr txBox="1"/>
          <p:nvPr>
            <p:ph idx="1" type="body"/>
          </p:nvPr>
        </p:nvSpPr>
        <p:spPr>
          <a:xfrm>
            <a:off x="812725" y="4305375"/>
            <a:ext cx="6936000" cy="52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04" name="Google Shape;104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11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107" name="Google Shape;107;p11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11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" name="Google Shape;109;p11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" name="Google Shape;110;p11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" name="Google Shape;111;p11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" name="Google Shape;112;p11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" name="Google Shape;115;p11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" name="Google Shape;116;p11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" name="Google Shape;119;p11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" name="Google Shape;120;p11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p11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" name="Google Shape;122;p11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" name="Google Shape;123;p11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" name="Google Shape;124;p11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5" name="Google Shape;125;p11"/>
          <p:cNvSpPr txBox="1"/>
          <p:nvPr>
            <p:ph hasCustomPrompt="1" type="title"/>
          </p:nvPr>
        </p:nvSpPr>
        <p:spPr>
          <a:xfrm>
            <a:off x="823850" y="1284675"/>
            <a:ext cx="47760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126" name="Google Shape;126;p11"/>
          <p:cNvSpPr txBox="1"/>
          <p:nvPr>
            <p:ph idx="1" type="body"/>
          </p:nvPr>
        </p:nvSpPr>
        <p:spPr>
          <a:xfrm>
            <a:off x="823850" y="2643124"/>
            <a:ext cx="4776000" cy="121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27" name="Google Shape;12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focus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3"/>
          <p:cNvSpPr txBox="1"/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Module 6: Remote API Protocol</a:t>
            </a:r>
            <a:endParaRPr/>
          </a:p>
        </p:txBody>
      </p:sp>
      <p:sp>
        <p:nvSpPr>
          <p:cNvPr id="135" name="Google Shape;135;p13"/>
          <p:cNvSpPr txBox="1"/>
          <p:nvPr>
            <p:ph idx="1" type="subTitle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SER 423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4"/>
          <p:cNvSpPr txBox="1"/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API Refresh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an API?</a:t>
            </a:r>
            <a:endParaRPr/>
          </a:p>
        </p:txBody>
      </p:sp>
      <p:sp>
        <p:nvSpPr>
          <p:cNvPr id="146" name="Google Shape;146;p15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An API if you’re not quite sure is a public interface of functions and methods that another function or method can call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Whenever you define a public method in a class, this is technically an API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What we really mean with API though is that you have defined some sort of interface that your code implements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This technically does not have to be an actual interface, but often is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The functions or methods in this interface are publically accessible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In short, you are providing some sort of functionality for other classes and functions to use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Do We Use an API?</a:t>
            </a:r>
            <a:endParaRPr/>
          </a:p>
        </p:txBody>
      </p:sp>
      <p:sp>
        <p:nvSpPr>
          <p:cNvPr id="152" name="Google Shape;152;p16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When we need to use an API we first need to import the library into our file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Each API should provide specification on how to use it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This </a:t>
            </a:r>
            <a:r>
              <a:rPr lang="en"/>
              <a:t>usually takes the form of either building an object and calling methods on it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Or making references to static methods without an object reference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You have used APIs consistently by now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Examples from Java include: System.out.println, Math.max, and the Random library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These all provide functionality you can use in your program without having to write it yourself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When you write a class and another class uses it, that is again an overly simplified example of an API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Usually, we make API calls on the same system, and within the same program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7"/>
          <p:cNvSpPr txBox="1"/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Remote API Calls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8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Then Are Remote API Calls?</a:t>
            </a:r>
            <a:endParaRPr/>
          </a:p>
        </p:txBody>
      </p:sp>
      <p:sp>
        <p:nvSpPr>
          <p:cNvPr id="163" name="Google Shape;163;p18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A remote API call is calling an API that exists on another device over a network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You essentially make a request, provide the needed information, and wait for a response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This is asking another computer to do work for you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This might sound odd, but it is actually extremely common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Thanks to the internet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This is pretty much how it works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Most backend processes are triggered by these types of calls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Servers do some sort of calculation, or fetch some sort of data, and send the result or data back to the client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9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Looking at HTTP</a:t>
            </a:r>
            <a:endParaRPr/>
          </a:p>
        </p:txBody>
      </p:sp>
      <p:sp>
        <p:nvSpPr>
          <p:cNvPr id="169" name="Google Shape;169;p19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The Hypertext Transfer Protocol is one of the most common means of communication between clients and servers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The client will build a request of a given type and the server will respond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There are several types of HTTP requests: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GET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POST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PUT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HEAD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DELETE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PATCH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OPTIONS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CONNECT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TRACE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GET and POST are by far the most common and we will focus on those two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0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GET Requests</a:t>
            </a:r>
            <a:endParaRPr/>
          </a:p>
        </p:txBody>
      </p:sp>
      <p:sp>
        <p:nvSpPr>
          <p:cNvPr id="175" name="Google Shape;175;p20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Use a GET request to ask for data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These cannot modify data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Usually, you will need to provide some sort of query with your request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Basically, you need to define what you are asking for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There should be a parameter and a value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The parameter is provided by the API and represents the name of the variable being set</a:t>
            </a:r>
            <a:endParaRPr/>
          </a:p>
          <a:p>
            <a:pPr indent="-298450" lvl="2" marL="1371600" rtl="0" algn="l">
              <a:spcBef>
                <a:spcPts val="0"/>
              </a:spcBef>
              <a:spcAft>
                <a:spcPts val="0"/>
              </a:spcAft>
              <a:buSzPts val="1100"/>
              <a:buChar char="■"/>
            </a:pPr>
            <a:r>
              <a:rPr lang="en"/>
              <a:t>Examples would be: name, courseNumber, minValue, etc.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The value is what within that parameter you are asking for</a:t>
            </a:r>
            <a:endParaRPr/>
          </a:p>
          <a:p>
            <a:pPr indent="-298450" lvl="2" marL="1371600" rtl="0" algn="l">
              <a:spcBef>
                <a:spcPts val="0"/>
              </a:spcBef>
              <a:spcAft>
                <a:spcPts val="0"/>
              </a:spcAft>
              <a:buSzPts val="1100"/>
              <a:buChar char="■"/>
            </a:pPr>
            <a:r>
              <a:rPr lang="en"/>
              <a:t>Examples matching the above would be: Baron, 423, 70, etc.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These values are appended to the end of the URL after a ? and are separated by &amp;’s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You have likely seen these in URLs before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someSite.com/pageName.php?name1=value1&amp;name2=value2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21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GET Example</a:t>
            </a:r>
            <a:endParaRPr/>
          </a:p>
        </p:txBody>
      </p:sp>
      <p:pic>
        <p:nvPicPr>
          <p:cNvPr id="181" name="Google Shape;181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52550" y="1307850"/>
            <a:ext cx="7038901" cy="35860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22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POST Requests</a:t>
            </a:r>
            <a:endParaRPr/>
          </a:p>
        </p:txBody>
      </p:sp>
      <p:sp>
        <p:nvSpPr>
          <p:cNvPr id="187" name="Google Shape;187;p22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While GET was only to fetch data, POST is used to change it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You make a POST request to update an existing value, or create it if it doesn’t exist already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This is formatted in a similar way to GET requests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That is to say that you list the parameter and the new/updated value like you do with a GET request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Examples of making a POST requests are: liking a YouTube video, posting a comment on an assignment in Canvas, etc.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As is likely obvious, any good server admin will lock down what POST requests are accepted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23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POST Example</a:t>
            </a:r>
            <a:endParaRPr/>
          </a:p>
        </p:txBody>
      </p:sp>
      <p:pic>
        <p:nvPicPr>
          <p:cNvPr id="193" name="Google Shape;193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33650" y="1307850"/>
            <a:ext cx="5276700" cy="3475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24"/>
          <p:cNvSpPr txBox="1"/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End of Remote API Protocol</a:t>
            </a:r>
            <a:endParaRPr/>
          </a:p>
        </p:txBody>
      </p:sp>
      <p:sp>
        <p:nvSpPr>
          <p:cNvPr id="199" name="Google Shape;199;p24"/>
          <p:cNvSpPr txBox="1"/>
          <p:nvPr>
            <p:ph idx="1" type="subTitle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Next time - Making Remote API Calls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Focus">
  <a:themeElements>
    <a:clrScheme name="Focus">
      <a:dk1>
        <a:srgbClr val="1B212C"/>
      </a:dk1>
      <a:lt1>
        <a:srgbClr val="FFFFFF"/>
      </a:lt1>
      <a:dk2>
        <a:srgbClr val="D9D9D9"/>
      </a:dk2>
      <a:lt2>
        <a:srgbClr val="82C7A5"/>
      </a:lt2>
      <a:accent1>
        <a:srgbClr val="0145AC"/>
      </a:accent1>
      <a:accent2>
        <a:srgbClr val="EECE1A"/>
      </a:accent2>
      <a:accent3>
        <a:srgbClr val="4E5567"/>
      </a:accent3>
      <a:accent4>
        <a:srgbClr val="F4D6AD"/>
      </a:accent4>
      <a:accent5>
        <a:srgbClr val="7890CD"/>
      </a:accent5>
      <a:accent6>
        <a:srgbClr val="F15E22"/>
      </a:accent6>
      <a:hlink>
        <a:srgbClr val="7890CD"/>
      </a:hlink>
      <a:folHlink>
        <a:srgbClr val="7890C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