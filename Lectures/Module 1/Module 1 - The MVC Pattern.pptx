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B7449C-B112-4AC2-B9E3-DB38CBD8B87B}">
  <a:tblStyle styleId="{51B7449C-B112-4AC2-B9E3-DB38CBD8B87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3e6667108d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3e6667108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e6667108d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3e6667108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e6667108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e6667108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3e6667108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3e6667108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3e6667108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3e6667108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3e6667108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3e6667108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3e6667108d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3e6667108d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3e6667108d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3e6667108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e6667108d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e6667108d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3e6667108d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3e6667108d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264fdaf4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264fdaf4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2651a9df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2651a9df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3e6667108d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3e6667108d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1: </a:t>
            </a:r>
            <a:r>
              <a:rPr lang="en"/>
              <a:t>The MVC Pattern</a:t>
            </a:r>
            <a:endParaRPr/>
          </a:p>
          <a:p>
            <a:pPr indent="0" lvl="0" marL="0" rtl="0" algn="l">
              <a:spcBef>
                <a:spcPts val="0"/>
              </a:spcBef>
              <a:spcAft>
                <a:spcPts val="0"/>
              </a:spcAft>
              <a:buNone/>
            </a:pPr>
            <a:r>
              <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SER 423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Designing Your Tech Stack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to Organize Your Code</a:t>
            </a:r>
            <a:endParaRPr/>
          </a:p>
        </p:txBody>
      </p:sp>
      <p:sp>
        <p:nvSpPr>
          <p:cNvPr id="146" name="Google Shape;146;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 previous courses you have probably spent some time on how to organize your code and the overall structure of the program</a:t>
            </a:r>
            <a:endParaRPr/>
          </a:p>
          <a:p>
            <a:pPr indent="-311150" lvl="0" marL="457200" rtl="0" algn="l">
              <a:spcBef>
                <a:spcPts val="0"/>
              </a:spcBef>
              <a:spcAft>
                <a:spcPts val="0"/>
              </a:spcAft>
              <a:buSzPts val="1300"/>
              <a:buChar char="●"/>
            </a:pPr>
            <a:r>
              <a:rPr lang="en"/>
              <a:t>While some assignments may have had requirements for how to structure your program, it has usually been left up to you</a:t>
            </a:r>
            <a:endParaRPr/>
          </a:p>
          <a:p>
            <a:pPr indent="-311150" lvl="0" marL="457200" rtl="0" algn="l">
              <a:spcBef>
                <a:spcPts val="0"/>
              </a:spcBef>
              <a:spcAft>
                <a:spcPts val="0"/>
              </a:spcAft>
              <a:buSzPts val="1300"/>
              <a:buChar char="●"/>
            </a:pPr>
            <a:r>
              <a:rPr lang="en"/>
              <a:t>With mobile apps, you can of course build them however you want</a:t>
            </a:r>
            <a:endParaRPr/>
          </a:p>
          <a:p>
            <a:pPr indent="-311150" lvl="0" marL="457200" rtl="0" algn="l">
              <a:spcBef>
                <a:spcPts val="0"/>
              </a:spcBef>
              <a:spcAft>
                <a:spcPts val="0"/>
              </a:spcAft>
              <a:buSzPts val="1300"/>
              <a:buChar char="●"/>
            </a:pPr>
            <a:r>
              <a:rPr lang="en"/>
              <a:t>Remember those issues that were specific to mobile development</a:t>
            </a:r>
            <a:endParaRPr/>
          </a:p>
          <a:p>
            <a:pPr indent="-311150" lvl="0" marL="457200" rtl="0" algn="l">
              <a:spcBef>
                <a:spcPts val="0"/>
              </a:spcBef>
              <a:spcAft>
                <a:spcPts val="0"/>
              </a:spcAft>
              <a:buSzPts val="1300"/>
              <a:buChar char="●"/>
            </a:pPr>
            <a:r>
              <a:rPr lang="en"/>
              <a:t>Therefore, there is one </a:t>
            </a:r>
            <a:r>
              <a:rPr lang="en"/>
              <a:t>prevailing</a:t>
            </a:r>
            <a:r>
              <a:rPr lang="en"/>
              <a:t> structure that is recommended and used by most apps out there right now</a:t>
            </a:r>
            <a:endParaRPr/>
          </a:p>
          <a:p>
            <a:pPr indent="-311150" lvl="0" marL="457200" rtl="0" algn="l">
              <a:spcBef>
                <a:spcPts val="0"/>
              </a:spcBef>
              <a:spcAft>
                <a:spcPts val="0"/>
              </a:spcAft>
              <a:buSzPts val="1300"/>
              <a:buChar char="●"/>
            </a:pPr>
            <a:r>
              <a:rPr lang="en"/>
              <a:t>Android and iOS components use this pattern as well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MVC Design Pattern</a:t>
            </a:r>
            <a:endParaRPr/>
          </a:p>
        </p:txBody>
      </p:sp>
      <p:sp>
        <p:nvSpPr>
          <p:cNvPr id="152" name="Google Shape;152;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preliminary structure used when developing mobile apps is the Model, View, Controller (MVC) </a:t>
            </a:r>
            <a:r>
              <a:rPr lang="en"/>
              <a:t>model</a:t>
            </a:r>
            <a:r>
              <a:rPr lang="en"/>
              <a:t>. This breaks your program down into three distinct layers.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View - The top most layer closest to the User</a:t>
            </a:r>
            <a:endParaRPr/>
          </a:p>
          <a:p>
            <a:pPr indent="0" lvl="0" marL="0" rtl="0" algn="l">
              <a:spcBef>
                <a:spcPts val="1200"/>
              </a:spcBef>
              <a:spcAft>
                <a:spcPts val="0"/>
              </a:spcAft>
              <a:buNone/>
            </a:pPr>
            <a:r>
              <a:rPr lang="en"/>
              <a:t>Controller - The middle layer that houses the main logic and communicates with the other two layers</a:t>
            </a:r>
            <a:endParaRPr/>
          </a:p>
          <a:p>
            <a:pPr indent="0" lvl="0" marL="0" rtl="0" algn="l">
              <a:spcBef>
                <a:spcPts val="1200"/>
              </a:spcBef>
              <a:spcAft>
                <a:spcPts val="1200"/>
              </a:spcAft>
              <a:buNone/>
            </a:pPr>
            <a:r>
              <a:rPr lang="en"/>
              <a:t>Model - The bottom layer that holds the structured data furthest from the User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Layers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Model Layer</a:t>
            </a:r>
            <a:endParaRPr/>
          </a:p>
        </p:txBody>
      </p:sp>
      <p:sp>
        <p:nvSpPr>
          <p:cNvPr id="163" name="Google Shape;163;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Again, this is the lowest layer</a:t>
            </a:r>
            <a:endParaRPr/>
          </a:p>
          <a:p>
            <a:pPr indent="-311150" lvl="0" marL="457200" rtl="0" algn="l">
              <a:spcBef>
                <a:spcPts val="0"/>
              </a:spcBef>
              <a:spcAft>
                <a:spcPts val="0"/>
              </a:spcAft>
              <a:buSzPts val="1300"/>
              <a:buChar char="●"/>
            </a:pPr>
            <a:r>
              <a:rPr lang="en"/>
              <a:t>Farthest from the User</a:t>
            </a:r>
            <a:endParaRPr/>
          </a:p>
          <a:p>
            <a:pPr indent="-311150" lvl="0" marL="457200" rtl="0" algn="l">
              <a:spcBef>
                <a:spcPts val="0"/>
              </a:spcBef>
              <a:spcAft>
                <a:spcPts val="0"/>
              </a:spcAft>
              <a:buSzPts val="1300"/>
              <a:buChar char="●"/>
            </a:pPr>
            <a:r>
              <a:rPr lang="en"/>
              <a:t>This is where we put all of our structured data</a:t>
            </a:r>
            <a:endParaRPr/>
          </a:p>
          <a:p>
            <a:pPr indent="-311150" lvl="0" marL="457200" rtl="0" algn="l">
              <a:spcBef>
                <a:spcPts val="0"/>
              </a:spcBef>
              <a:spcAft>
                <a:spcPts val="0"/>
              </a:spcAft>
              <a:buSzPts val="1300"/>
              <a:buChar char="●"/>
            </a:pPr>
            <a:r>
              <a:rPr lang="en"/>
              <a:t>You might think of this as the data layer</a:t>
            </a:r>
            <a:endParaRPr/>
          </a:p>
          <a:p>
            <a:pPr indent="-311150" lvl="0" marL="457200" rtl="0" algn="l">
              <a:spcBef>
                <a:spcPts val="0"/>
              </a:spcBef>
              <a:spcAft>
                <a:spcPts val="0"/>
              </a:spcAft>
              <a:buSzPts val="1300"/>
              <a:buChar char="●"/>
            </a:pPr>
            <a:r>
              <a:rPr lang="en"/>
              <a:t>Pictures, Saved Game Files, Hardcoded Strings, Preferences, etc.</a:t>
            </a:r>
            <a:endParaRPr/>
          </a:p>
          <a:p>
            <a:pPr indent="-311150" lvl="0" marL="457200" rtl="0" algn="l">
              <a:spcBef>
                <a:spcPts val="0"/>
              </a:spcBef>
              <a:spcAft>
                <a:spcPts val="0"/>
              </a:spcAft>
              <a:buSzPts val="1300"/>
              <a:buChar char="●"/>
            </a:pPr>
            <a:r>
              <a:rPr lang="en"/>
              <a:t>Much of this data is static</a:t>
            </a:r>
            <a:endParaRPr/>
          </a:p>
          <a:p>
            <a:pPr indent="-311150" lvl="0" marL="457200" rtl="0" algn="l">
              <a:spcBef>
                <a:spcPts val="0"/>
              </a:spcBef>
              <a:spcAft>
                <a:spcPts val="0"/>
              </a:spcAft>
              <a:buSzPts val="1300"/>
              <a:buChar char="●"/>
            </a:pPr>
            <a:r>
              <a:rPr lang="en"/>
              <a:t>This layer is made up of data and the rules for its representation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View Layer</a:t>
            </a:r>
            <a:endParaRPr/>
          </a:p>
        </p:txBody>
      </p:sp>
      <p:sp>
        <p:nvSpPr>
          <p:cNvPr id="169" name="Google Shape;169;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closest layer to the User</a:t>
            </a:r>
            <a:endParaRPr/>
          </a:p>
          <a:p>
            <a:pPr indent="-311150" lvl="0" marL="457200" rtl="0" algn="l">
              <a:spcBef>
                <a:spcPts val="0"/>
              </a:spcBef>
              <a:spcAft>
                <a:spcPts val="0"/>
              </a:spcAft>
              <a:buSzPts val="1300"/>
              <a:buChar char="●"/>
            </a:pPr>
            <a:r>
              <a:rPr lang="en"/>
              <a:t>This is what the User of the app sees</a:t>
            </a:r>
            <a:endParaRPr/>
          </a:p>
          <a:p>
            <a:pPr indent="-311150" lvl="0" marL="457200" rtl="0" algn="l">
              <a:spcBef>
                <a:spcPts val="0"/>
              </a:spcBef>
              <a:spcAft>
                <a:spcPts val="0"/>
              </a:spcAft>
              <a:buSzPts val="1300"/>
              <a:buChar char="●"/>
            </a:pPr>
            <a:r>
              <a:rPr lang="en"/>
              <a:t>It is the presentation layer</a:t>
            </a:r>
            <a:endParaRPr/>
          </a:p>
          <a:p>
            <a:pPr indent="-311150" lvl="0" marL="457200" rtl="0" algn="l">
              <a:spcBef>
                <a:spcPts val="0"/>
              </a:spcBef>
              <a:spcAft>
                <a:spcPts val="0"/>
              </a:spcAft>
              <a:buSzPts val="1300"/>
              <a:buChar char="●"/>
            </a:pPr>
            <a:r>
              <a:rPr lang="en"/>
              <a:t>Buttons, Lists, Images, etc.</a:t>
            </a:r>
            <a:endParaRPr/>
          </a:p>
          <a:p>
            <a:pPr indent="-311150" lvl="0" marL="457200" rtl="0" algn="l">
              <a:spcBef>
                <a:spcPts val="0"/>
              </a:spcBef>
              <a:spcAft>
                <a:spcPts val="0"/>
              </a:spcAft>
              <a:buSzPts val="1300"/>
              <a:buChar char="●"/>
            </a:pPr>
            <a:r>
              <a:rPr lang="en"/>
              <a:t>This layer should be lightweight, only displaying objects and receiving User Actions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Controller Layer</a:t>
            </a:r>
            <a:endParaRPr/>
          </a:p>
        </p:txBody>
      </p:sp>
      <p:sp>
        <p:nvSpPr>
          <p:cNvPr id="175" name="Google Shape;175;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This is the middle layer that communicates with the other two layers</a:t>
            </a:r>
            <a:endParaRPr/>
          </a:p>
          <a:p>
            <a:pPr indent="-311150" lvl="0" marL="457200" rtl="0" algn="l">
              <a:spcBef>
                <a:spcPts val="0"/>
              </a:spcBef>
              <a:spcAft>
                <a:spcPts val="0"/>
              </a:spcAft>
              <a:buSzPts val="1300"/>
              <a:buChar char="●"/>
            </a:pPr>
            <a:r>
              <a:rPr lang="en"/>
              <a:t>This will house the majority of the program logic</a:t>
            </a:r>
            <a:endParaRPr/>
          </a:p>
          <a:p>
            <a:pPr indent="-311150" lvl="0" marL="457200" rtl="0" algn="l">
              <a:spcBef>
                <a:spcPts val="0"/>
              </a:spcBef>
              <a:spcAft>
                <a:spcPts val="0"/>
              </a:spcAft>
              <a:buSzPts val="1300"/>
              <a:buChar char="●"/>
            </a:pPr>
            <a:r>
              <a:rPr lang="en"/>
              <a:t>The Model layer will have rules for what to show at startup, and the controller will pass that information up to the View layer</a:t>
            </a:r>
            <a:endParaRPr/>
          </a:p>
          <a:p>
            <a:pPr indent="-311150" lvl="0" marL="457200" rtl="0" algn="l">
              <a:spcBef>
                <a:spcPts val="0"/>
              </a:spcBef>
              <a:spcAft>
                <a:spcPts val="0"/>
              </a:spcAft>
              <a:buSzPts val="1300"/>
              <a:buChar char="●"/>
            </a:pPr>
            <a:r>
              <a:rPr lang="en"/>
              <a:t>User actions will come from the View layer, which then need to be processed and the View and/or M</a:t>
            </a:r>
            <a:r>
              <a:rPr lang="en"/>
              <a:t>odel</a:t>
            </a:r>
            <a:r>
              <a:rPr lang="en"/>
              <a:t> will be updated by the Controller</a:t>
            </a:r>
            <a:endParaRPr/>
          </a:p>
          <a:p>
            <a:pPr indent="-311150" lvl="0" marL="457200" rtl="0" algn="l">
              <a:spcBef>
                <a:spcPts val="0"/>
              </a:spcBef>
              <a:spcAft>
                <a:spcPts val="0"/>
              </a:spcAft>
              <a:buSzPts val="1300"/>
              <a:buChar char="●"/>
            </a:pPr>
            <a:r>
              <a:rPr lang="en"/>
              <a:t>The M</a:t>
            </a:r>
            <a:r>
              <a:rPr lang="en"/>
              <a:t>odel</a:t>
            </a:r>
            <a:r>
              <a:rPr lang="en"/>
              <a:t> may notify the Controller if something has changed and the Controller will update the other two layers as needed again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MVC as a Whole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Diagram of the MVC Interactions</a:t>
            </a:r>
            <a:endParaRPr/>
          </a:p>
        </p:txBody>
      </p:sp>
      <p:sp>
        <p:nvSpPr>
          <p:cNvPr id="186" name="Google Shape;186;p22"/>
          <p:cNvSpPr/>
          <p:nvPr/>
        </p:nvSpPr>
        <p:spPr>
          <a:xfrm>
            <a:off x="807600" y="2286550"/>
            <a:ext cx="1457700" cy="10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2"/>
          <p:cNvSpPr/>
          <p:nvPr/>
        </p:nvSpPr>
        <p:spPr>
          <a:xfrm>
            <a:off x="3843150" y="2286550"/>
            <a:ext cx="1457700" cy="10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2"/>
          <p:cNvSpPr/>
          <p:nvPr/>
        </p:nvSpPr>
        <p:spPr>
          <a:xfrm>
            <a:off x="6878700" y="2286550"/>
            <a:ext cx="1457700" cy="10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2"/>
          <p:cNvSpPr/>
          <p:nvPr/>
        </p:nvSpPr>
        <p:spPr>
          <a:xfrm>
            <a:off x="2266613" y="2359675"/>
            <a:ext cx="1571100" cy="3168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5300850" y="2974150"/>
            <a:ext cx="1571100" cy="3168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2"/>
          <p:cNvSpPr/>
          <p:nvPr/>
        </p:nvSpPr>
        <p:spPr>
          <a:xfrm>
            <a:off x="2266613" y="2961850"/>
            <a:ext cx="1571100" cy="341400"/>
          </a:xfrm>
          <a:prstGeom prst="lef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a:off x="5307600" y="2359675"/>
            <a:ext cx="1571100" cy="341400"/>
          </a:xfrm>
          <a:prstGeom prst="lef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2"/>
          <p:cNvSpPr txBox="1"/>
          <p:nvPr/>
        </p:nvSpPr>
        <p:spPr>
          <a:xfrm>
            <a:off x="931200" y="2579075"/>
            <a:ext cx="120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Model Layer</a:t>
            </a:r>
            <a:endParaRPr>
              <a:latin typeface="Lato"/>
              <a:ea typeface="Lato"/>
              <a:cs typeface="Lato"/>
              <a:sym typeface="Lato"/>
            </a:endParaRPr>
          </a:p>
        </p:txBody>
      </p:sp>
      <p:sp>
        <p:nvSpPr>
          <p:cNvPr id="194" name="Google Shape;194;p22"/>
          <p:cNvSpPr txBox="1"/>
          <p:nvPr/>
        </p:nvSpPr>
        <p:spPr>
          <a:xfrm>
            <a:off x="3964125" y="2480950"/>
            <a:ext cx="1209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Lato"/>
                <a:ea typeface="Lato"/>
                <a:cs typeface="Lato"/>
                <a:sym typeface="Lato"/>
              </a:rPr>
              <a:t>Controller</a:t>
            </a:r>
            <a:r>
              <a:rPr lang="en">
                <a:latin typeface="Lato"/>
                <a:ea typeface="Lato"/>
                <a:cs typeface="Lato"/>
                <a:sym typeface="Lato"/>
              </a:rPr>
              <a:t> Layer</a:t>
            </a:r>
            <a:endParaRPr>
              <a:latin typeface="Lato"/>
              <a:ea typeface="Lato"/>
              <a:cs typeface="Lato"/>
              <a:sym typeface="Lato"/>
            </a:endParaRPr>
          </a:p>
        </p:txBody>
      </p:sp>
      <p:sp>
        <p:nvSpPr>
          <p:cNvPr id="195" name="Google Shape;195;p22"/>
          <p:cNvSpPr txBox="1"/>
          <p:nvPr/>
        </p:nvSpPr>
        <p:spPr>
          <a:xfrm>
            <a:off x="6997050" y="2588650"/>
            <a:ext cx="120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View</a:t>
            </a:r>
            <a:r>
              <a:rPr lang="en">
                <a:latin typeface="Lato"/>
                <a:ea typeface="Lato"/>
                <a:cs typeface="Lato"/>
                <a:sym typeface="Lato"/>
              </a:rPr>
              <a:t> Layer</a:t>
            </a:r>
            <a:endParaRPr>
              <a:latin typeface="Lato"/>
              <a:ea typeface="Lato"/>
              <a:cs typeface="Lato"/>
              <a:sym typeface="Lato"/>
            </a:endParaRPr>
          </a:p>
        </p:txBody>
      </p:sp>
      <p:sp>
        <p:nvSpPr>
          <p:cNvPr id="196" name="Google Shape;196;p22"/>
          <p:cNvSpPr txBox="1"/>
          <p:nvPr/>
        </p:nvSpPr>
        <p:spPr>
          <a:xfrm>
            <a:off x="2720475" y="2932450"/>
            <a:ext cx="88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Updates</a:t>
            </a:r>
            <a:endParaRPr>
              <a:latin typeface="Lato"/>
              <a:ea typeface="Lato"/>
              <a:cs typeface="Lato"/>
              <a:sym typeface="Lato"/>
            </a:endParaRPr>
          </a:p>
        </p:txBody>
      </p:sp>
      <p:sp>
        <p:nvSpPr>
          <p:cNvPr id="197" name="Google Shape;197;p22"/>
          <p:cNvSpPr txBox="1"/>
          <p:nvPr/>
        </p:nvSpPr>
        <p:spPr>
          <a:xfrm>
            <a:off x="5646063" y="2932450"/>
            <a:ext cx="88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Updates</a:t>
            </a:r>
            <a:endParaRPr>
              <a:latin typeface="Lato"/>
              <a:ea typeface="Lato"/>
              <a:cs typeface="Lato"/>
              <a:sym typeface="Lato"/>
            </a:endParaRPr>
          </a:p>
        </p:txBody>
      </p:sp>
      <p:sp>
        <p:nvSpPr>
          <p:cNvPr id="198" name="Google Shape;198;p22"/>
          <p:cNvSpPr txBox="1"/>
          <p:nvPr/>
        </p:nvSpPr>
        <p:spPr>
          <a:xfrm>
            <a:off x="2610525" y="2317975"/>
            <a:ext cx="88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Notifies</a:t>
            </a:r>
            <a:endParaRPr>
              <a:latin typeface="Lato"/>
              <a:ea typeface="Lato"/>
              <a:cs typeface="Lato"/>
              <a:sym typeface="Lato"/>
            </a:endParaRPr>
          </a:p>
        </p:txBody>
      </p:sp>
      <p:sp>
        <p:nvSpPr>
          <p:cNvPr id="199" name="Google Shape;199;p22"/>
          <p:cNvSpPr txBox="1"/>
          <p:nvPr/>
        </p:nvSpPr>
        <p:spPr>
          <a:xfrm>
            <a:off x="5646075" y="2330275"/>
            <a:ext cx="115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User Action</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We Use This Structure</a:t>
            </a:r>
            <a:endParaRPr/>
          </a:p>
        </p:txBody>
      </p:sp>
      <p:sp>
        <p:nvSpPr>
          <p:cNvPr id="205" name="Google Shape;205;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Model never talks to the View or vice versa</a:t>
            </a:r>
            <a:endParaRPr/>
          </a:p>
          <a:p>
            <a:pPr indent="-311150" lvl="0" marL="457200" rtl="0" algn="l">
              <a:spcBef>
                <a:spcPts val="0"/>
              </a:spcBef>
              <a:spcAft>
                <a:spcPts val="0"/>
              </a:spcAft>
              <a:buSzPts val="1300"/>
              <a:buChar char="●"/>
            </a:pPr>
            <a:r>
              <a:rPr lang="en"/>
              <a:t>This means all inter-layer communication </a:t>
            </a:r>
            <a:r>
              <a:rPr lang="en"/>
              <a:t>goes through the Controller</a:t>
            </a:r>
            <a:endParaRPr/>
          </a:p>
          <a:p>
            <a:pPr indent="-311150" lvl="0" marL="457200" rtl="0" algn="l">
              <a:spcBef>
                <a:spcPts val="0"/>
              </a:spcBef>
              <a:spcAft>
                <a:spcPts val="0"/>
              </a:spcAft>
              <a:buSzPts val="1300"/>
              <a:buChar char="●"/>
            </a:pPr>
            <a:r>
              <a:rPr lang="en"/>
              <a:t>Keeps the out two layers lighter</a:t>
            </a:r>
            <a:endParaRPr/>
          </a:p>
          <a:p>
            <a:pPr indent="-311150" lvl="0" marL="457200" rtl="0" algn="l">
              <a:spcBef>
                <a:spcPts val="0"/>
              </a:spcBef>
              <a:spcAft>
                <a:spcPts val="0"/>
              </a:spcAft>
              <a:buSzPts val="1300"/>
              <a:buChar char="●"/>
            </a:pPr>
            <a:r>
              <a:rPr lang="en"/>
              <a:t>Minimizes chances of conflicts from threads or User Interruption</a:t>
            </a:r>
            <a:endParaRPr/>
          </a:p>
          <a:p>
            <a:pPr indent="-311150" lvl="0" marL="457200" rtl="0" algn="l">
              <a:spcBef>
                <a:spcPts val="0"/>
              </a:spcBef>
              <a:spcAft>
                <a:spcPts val="0"/>
              </a:spcAft>
              <a:buSzPts val="1300"/>
              <a:buChar char="●"/>
            </a:pPr>
            <a:r>
              <a:rPr lang="en"/>
              <a:t>Makes threading easier</a:t>
            </a:r>
            <a:endParaRPr/>
          </a:p>
          <a:p>
            <a:pPr indent="-311150" lvl="0" marL="457200" rtl="0" algn="l">
              <a:spcBef>
                <a:spcPts val="0"/>
              </a:spcBef>
              <a:spcAft>
                <a:spcPts val="0"/>
              </a:spcAft>
              <a:buSzPts val="1300"/>
              <a:buChar char="●"/>
            </a:pPr>
            <a:r>
              <a:rPr lang="en"/>
              <a:t>Similar to structures used in production level web servers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Next Step - MVP</a:t>
            </a:r>
            <a:endParaRPr/>
          </a:p>
        </p:txBody>
      </p:sp>
      <p:pic>
        <p:nvPicPr>
          <p:cNvPr id="211" name="Google Shape;211;p24"/>
          <p:cNvPicPr preferRelativeResize="0"/>
          <p:nvPr/>
        </p:nvPicPr>
        <p:blipFill>
          <a:blip r:embed="rId3">
            <a:alphaModFix/>
          </a:blip>
          <a:stretch>
            <a:fillRect/>
          </a:stretch>
        </p:blipFill>
        <p:spPr>
          <a:xfrm>
            <a:off x="2355526" y="1307850"/>
            <a:ext cx="4432952" cy="2361500"/>
          </a:xfrm>
          <a:prstGeom prst="rect">
            <a:avLst/>
          </a:prstGeom>
          <a:noFill/>
          <a:ln>
            <a:noFill/>
          </a:ln>
        </p:spPr>
      </p:pic>
      <p:pic>
        <p:nvPicPr>
          <p:cNvPr id="212" name="Google Shape;212;p24"/>
          <p:cNvPicPr preferRelativeResize="0"/>
          <p:nvPr/>
        </p:nvPicPr>
        <p:blipFill>
          <a:blip r:embed="rId4">
            <a:alphaModFix/>
          </a:blip>
          <a:stretch>
            <a:fillRect/>
          </a:stretch>
        </p:blipFill>
        <p:spPr>
          <a:xfrm>
            <a:off x="2355525" y="2871754"/>
            <a:ext cx="4432952" cy="23225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Differences</a:t>
            </a:r>
            <a:endParaRPr/>
          </a:p>
        </p:txBody>
      </p:sp>
      <p:graphicFrame>
        <p:nvGraphicFramePr>
          <p:cNvPr id="218" name="Google Shape;218;p25"/>
          <p:cNvGraphicFramePr/>
          <p:nvPr/>
        </p:nvGraphicFramePr>
        <p:xfrm>
          <a:off x="952500" y="1070400"/>
          <a:ext cx="3000000" cy="3000000"/>
        </p:xfrm>
        <a:graphic>
          <a:graphicData uri="http://schemas.openxmlformats.org/drawingml/2006/table">
            <a:tbl>
              <a:tblPr>
                <a:noFill/>
                <a:tableStyleId>{51B7449C-B112-4AC2-B9E3-DB38CBD8B87B}</a:tableStyleId>
              </a:tblPr>
              <a:tblGrid>
                <a:gridCol w="3619500"/>
                <a:gridCol w="3619500"/>
              </a:tblGrid>
              <a:tr h="381000">
                <a:tc>
                  <a:txBody>
                    <a:bodyPr/>
                    <a:lstStyle/>
                    <a:p>
                      <a:pPr indent="0" lvl="0" marL="0" rtl="0" algn="ctr">
                        <a:spcBef>
                          <a:spcPts val="0"/>
                        </a:spcBef>
                        <a:spcAft>
                          <a:spcPts val="0"/>
                        </a:spcAft>
                        <a:buNone/>
                      </a:pPr>
                      <a:r>
                        <a:rPr lang="en">
                          <a:solidFill>
                            <a:schemeClr val="lt1"/>
                          </a:solidFill>
                        </a:rPr>
                        <a:t>MVC</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MVP</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The View layer may have direct references to the Model and Controller layers.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000">
                          <a:solidFill>
                            <a:schemeClr val="lt1"/>
                          </a:solidFill>
                        </a:rPr>
                        <a:t>The View layer has no direct references to the Model layer and only indirect references to the Presenter layer. The Presenter retrieves data from the Model layer, processes it, and updates the View accordingly. The View layer should not directly access the Model layer.</a:t>
                      </a:r>
                      <a:endParaRPr sz="1000">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The Controller layer can make changes in the View layer.</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The Presenter layer can only provide data to the View layer that would then be rendered by the View.</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Due to the dependencies on the View layer, the Controller layer was difficult to test.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Due to the separation of concerns, the Presenter layer could be tested </a:t>
                      </a:r>
                      <a:r>
                        <a:rPr lang="en">
                          <a:solidFill>
                            <a:schemeClr val="lt1"/>
                          </a:solidFill>
                        </a:rPr>
                        <a:t>independently</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There's a many-to-one relationship between the View and the Controller because a Controller is capable of managing different Views.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The View and the Presenter layer have a one-to-one relationship. The Presenter layer can manage a single View only.</a:t>
                      </a:r>
                      <a:endParaRPr>
                        <a:solidFill>
                          <a:schemeClr val="lt1"/>
                        </a:solidFill>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End of The MVC Pattern</a:t>
            </a:r>
            <a:endParaRPr/>
          </a:p>
        </p:txBody>
      </p:sp>
      <p:sp>
        <p:nvSpPr>
          <p:cNvPr id="224" name="Google Shape;224;p26"/>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That is all for Module 1</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