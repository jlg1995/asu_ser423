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embeddedFontLst>
    <p:embeddedFont>
      <p:font typeface="Montserrat"/>
      <p:regular r:id="rId23"/>
      <p:bold r:id="rId24"/>
      <p:italic r:id="rId25"/>
      <p:boldItalic r:id="rId26"/>
    </p:embeddedFont>
    <p:embeddedFont>
      <p:font typeface="Lato"/>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Montserrat-bold.fntdata"/><Relationship Id="rId23" Type="http://schemas.openxmlformats.org/officeDocument/2006/relationships/font" Target="fonts/Montserrat-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boldItalic.fntdata"/><Relationship Id="rId25" Type="http://schemas.openxmlformats.org/officeDocument/2006/relationships/font" Target="fonts/Montserrat-italic.fntdata"/><Relationship Id="rId28" Type="http://schemas.openxmlformats.org/officeDocument/2006/relationships/font" Target="fonts/Lato-bold.fntdata"/><Relationship Id="rId27" Type="http://schemas.openxmlformats.org/officeDocument/2006/relationships/font" Target="fonts/Lato-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italic.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Lato-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15c7de086b8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15c7de086b8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15c7de086b8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15c7de086b8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15c7de086b8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15c7de086b8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15c7de086b8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15c7de086b8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15c7de086b8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15c7de086b8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15c7de086b8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15c7de086b8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15c7de086b8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15c7de086b8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15c7de086b8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15c7de086b8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15c7de086b8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15c7de086b8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15c7de086b8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15c7de086b8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15c7de086b8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15c7de086b8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15c7de086b8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15c7de086b8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15c7de086b8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15c7de086b8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15c7de086b8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15c7de086b8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5c7de086b8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15c7de086b8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15c7de086b8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15c7de086b8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578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Module 12: Using Third Party Plugins</a:t>
            </a:r>
            <a:endParaRPr/>
          </a:p>
        </p:txBody>
      </p:sp>
      <p:sp>
        <p:nvSpPr>
          <p:cNvPr id="135" name="Google Shape;135;p13"/>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SER 423</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Overview</a:t>
            </a:r>
            <a:endParaRPr/>
          </a:p>
        </p:txBody>
      </p:sp>
      <p:sp>
        <p:nvSpPr>
          <p:cNvPr id="141" name="Google Shape;141;p1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lnSpcReduction="10000"/>
          </a:bodyPr>
          <a:lstStyle/>
          <a:p>
            <a:pPr indent="-311150" lvl="0" marL="457200" rtl="0" algn="l">
              <a:spcBef>
                <a:spcPts val="0"/>
              </a:spcBef>
              <a:spcAft>
                <a:spcPts val="0"/>
              </a:spcAft>
              <a:buSzPts val="1300"/>
              <a:buChar char="●"/>
            </a:pPr>
            <a:r>
              <a:rPr lang="en"/>
              <a:t>Last time we looked at expo and why we use it</a:t>
            </a:r>
            <a:endParaRPr/>
          </a:p>
          <a:p>
            <a:pPr indent="-311150" lvl="0" marL="457200" rtl="0" algn="l">
              <a:spcBef>
                <a:spcPts val="0"/>
              </a:spcBef>
              <a:spcAft>
                <a:spcPts val="0"/>
              </a:spcAft>
              <a:buSzPts val="1300"/>
              <a:buChar char="●"/>
            </a:pPr>
            <a:r>
              <a:rPr lang="en"/>
              <a:t>Expo can be a very helpful tool in build an app, but it can also limit our choices</a:t>
            </a:r>
            <a:endParaRPr/>
          </a:p>
          <a:p>
            <a:pPr indent="-311150" lvl="0" marL="457200" rtl="0" algn="l">
              <a:spcBef>
                <a:spcPts val="0"/>
              </a:spcBef>
              <a:spcAft>
                <a:spcPts val="0"/>
              </a:spcAft>
              <a:buSzPts val="1300"/>
              <a:buChar char="●"/>
            </a:pPr>
            <a:r>
              <a:rPr lang="en"/>
              <a:t>This time we are going to look at a few plugins that you can use to add functionality that is either not available in expo/react or just makes it easier</a:t>
            </a:r>
            <a:endParaRPr/>
          </a:p>
          <a:p>
            <a:pPr indent="-311150" lvl="0" marL="457200" rtl="0" algn="l">
              <a:spcBef>
                <a:spcPts val="0"/>
              </a:spcBef>
              <a:spcAft>
                <a:spcPts val="0"/>
              </a:spcAft>
              <a:buSzPts val="1300"/>
              <a:buChar char="●"/>
            </a:pPr>
            <a:r>
              <a:rPr lang="en"/>
              <a:t>Not all of these are incompatible with expo, but it is something to double check before trying to add it to your project</a:t>
            </a:r>
            <a:endParaRPr/>
          </a:p>
          <a:p>
            <a:pPr indent="-311150" lvl="0" marL="457200" rtl="0" algn="l">
              <a:spcBef>
                <a:spcPts val="0"/>
              </a:spcBef>
              <a:spcAft>
                <a:spcPts val="0"/>
              </a:spcAft>
              <a:buSzPts val="1300"/>
              <a:buChar char="●"/>
            </a:pPr>
            <a:r>
              <a:rPr lang="en"/>
              <a:t>Another thing to note: working with native code really requires some work using Android Studio or XCode as </a:t>
            </a:r>
            <a:r>
              <a:rPr lang="en"/>
              <a:t>appropriate</a:t>
            </a:r>
            <a:endParaRPr/>
          </a:p>
          <a:p>
            <a:pPr indent="-311150" lvl="0" marL="457200" rtl="0" algn="l">
              <a:spcBef>
                <a:spcPts val="0"/>
              </a:spcBef>
              <a:spcAft>
                <a:spcPts val="0"/>
              </a:spcAft>
              <a:buSzPts val="1300"/>
              <a:buChar char="●"/>
            </a:pPr>
            <a:r>
              <a:rPr lang="en"/>
              <a:t>You will want to edit at least the native portion of your app in those, rather than your regular editor</a:t>
            </a:r>
            <a:endParaRPr/>
          </a:p>
          <a:p>
            <a:pPr indent="-298450" lvl="1" marL="914400" rtl="0" algn="l">
              <a:spcBef>
                <a:spcPts val="0"/>
              </a:spcBef>
              <a:spcAft>
                <a:spcPts val="0"/>
              </a:spcAft>
              <a:buSzPts val="1100"/>
              <a:buChar char="○"/>
            </a:pPr>
            <a:r>
              <a:rPr lang="en"/>
              <a:t>See the book for detailed instructions on how to set your project up in them</a:t>
            </a:r>
            <a:endParaRPr/>
          </a:p>
          <a:p>
            <a:pPr indent="-311150" lvl="0" marL="457200" rtl="0" algn="l">
              <a:spcBef>
                <a:spcPts val="0"/>
              </a:spcBef>
              <a:spcAft>
                <a:spcPts val="0"/>
              </a:spcAft>
              <a:buSzPts val="1300"/>
              <a:buChar char="●"/>
            </a:pPr>
            <a:r>
              <a:rPr lang="en"/>
              <a:t>A thing to keep in mind - if you’re not editing the native code, are you sure you needed a pure react native app?</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5"/>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NativeBase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Using NativeBase</a:t>
            </a:r>
            <a:endParaRPr/>
          </a:p>
        </p:txBody>
      </p:sp>
      <p:sp>
        <p:nvSpPr>
          <p:cNvPr id="152" name="Google Shape;152;p16"/>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NativeBase is a simple plugin for creating cross platform components</a:t>
            </a:r>
            <a:endParaRPr/>
          </a:p>
          <a:p>
            <a:pPr indent="-311150" lvl="0" marL="457200" rtl="0" algn="l">
              <a:spcBef>
                <a:spcPts val="0"/>
              </a:spcBef>
              <a:spcAft>
                <a:spcPts val="0"/>
              </a:spcAft>
              <a:buSzPts val="1300"/>
              <a:buChar char="●"/>
            </a:pPr>
            <a:r>
              <a:rPr lang="en"/>
              <a:t>We’ll start with this one since it is simple to setup and doesn’t force native editing</a:t>
            </a:r>
            <a:endParaRPr/>
          </a:p>
          <a:p>
            <a:pPr indent="-311150" lvl="0" marL="457200" rtl="0" algn="l">
              <a:spcBef>
                <a:spcPts val="0"/>
              </a:spcBef>
              <a:spcAft>
                <a:spcPts val="0"/>
              </a:spcAft>
              <a:buSzPts val="1300"/>
              <a:buChar char="●"/>
            </a:pPr>
            <a:r>
              <a:rPr lang="en"/>
              <a:t>NativeBase is expo friendly - we’ll look at how to set it up either way</a:t>
            </a:r>
            <a:endParaRPr/>
          </a:p>
          <a:p>
            <a:pPr indent="-311150" lvl="0" marL="457200" rtl="0" algn="l">
              <a:spcBef>
                <a:spcPts val="0"/>
              </a:spcBef>
              <a:spcAft>
                <a:spcPts val="0"/>
              </a:spcAft>
              <a:buSzPts val="1300"/>
              <a:buChar char="●"/>
            </a:pPr>
            <a:r>
              <a:rPr lang="en"/>
              <a:t>Once the project is made, you can </a:t>
            </a:r>
            <a:r>
              <a:rPr i="1" lang="en"/>
              <a:t>cd</a:t>
            </a:r>
            <a:r>
              <a:rPr lang="en"/>
              <a:t> into the project directory and install the plugin</a:t>
            </a:r>
            <a:endParaRPr/>
          </a:p>
          <a:p>
            <a:pPr indent="-298450" lvl="1" marL="914400" rtl="0" algn="l">
              <a:spcBef>
                <a:spcPts val="0"/>
              </a:spcBef>
              <a:spcAft>
                <a:spcPts val="0"/>
              </a:spcAft>
              <a:buSzPts val="1100"/>
              <a:buChar char="○"/>
            </a:pPr>
            <a:r>
              <a:rPr lang="en"/>
              <a:t>Pure react: </a:t>
            </a:r>
            <a:r>
              <a:rPr i="1" lang="en"/>
              <a:t>n</a:t>
            </a:r>
            <a:r>
              <a:rPr i="1" lang="en"/>
              <a:t>pm install native-base </a:t>
            </a:r>
            <a:r>
              <a:rPr i="1" lang="en"/>
              <a:t>--</a:t>
            </a:r>
            <a:r>
              <a:rPr i="1" lang="en"/>
              <a:t>save</a:t>
            </a:r>
            <a:r>
              <a:rPr lang="en"/>
              <a:t> or </a:t>
            </a:r>
            <a:r>
              <a:rPr i="1" lang="en"/>
              <a:t>yarn add native-base</a:t>
            </a:r>
            <a:endParaRPr/>
          </a:p>
          <a:p>
            <a:pPr indent="-298450" lvl="1" marL="914400" rtl="0" algn="l">
              <a:spcBef>
                <a:spcPts val="0"/>
              </a:spcBef>
              <a:spcAft>
                <a:spcPts val="0"/>
              </a:spcAft>
              <a:buSzPts val="1100"/>
              <a:buChar char="○"/>
            </a:pPr>
            <a:r>
              <a:rPr lang="en"/>
              <a:t>Expo: </a:t>
            </a:r>
            <a:r>
              <a:rPr i="1" lang="en"/>
              <a:t>npm install native-base @expo/vector-icons </a:t>
            </a:r>
            <a:r>
              <a:rPr i="1" lang="en"/>
              <a:t>--save </a:t>
            </a:r>
            <a:r>
              <a:rPr lang="en"/>
              <a:t>or </a:t>
            </a:r>
            <a:r>
              <a:rPr i="1" lang="en"/>
              <a:t>yarn add native-base @expo vector-icons</a:t>
            </a:r>
            <a:endParaRPr i="1"/>
          </a:p>
          <a:p>
            <a:pPr indent="-311150" lvl="0" marL="457200" rtl="0" algn="l">
              <a:spcBef>
                <a:spcPts val="0"/>
              </a:spcBef>
              <a:spcAft>
                <a:spcPts val="0"/>
              </a:spcAft>
              <a:buSzPts val="1300"/>
              <a:buChar char="●"/>
            </a:pPr>
            <a:r>
              <a:rPr lang="en"/>
              <a:t>The difference between the two is the dependencies</a:t>
            </a:r>
            <a:endParaRPr/>
          </a:p>
          <a:p>
            <a:pPr indent="-311150" lvl="0" marL="457200" rtl="0" algn="l">
              <a:spcBef>
                <a:spcPts val="0"/>
              </a:spcBef>
              <a:spcAft>
                <a:spcPts val="0"/>
              </a:spcAft>
              <a:buSzPts val="1300"/>
              <a:buChar char="●"/>
            </a:pPr>
            <a:r>
              <a:rPr lang="en"/>
              <a:t>If you use a pure react project, you still need to install the dependencies with </a:t>
            </a:r>
            <a:r>
              <a:rPr i="1" lang="en"/>
              <a:t>react-native link</a:t>
            </a:r>
            <a:endParaRPr/>
          </a:p>
          <a:p>
            <a:pPr indent="-298450" lvl="1" marL="914400" rtl="0" algn="l">
              <a:spcBef>
                <a:spcPts val="0"/>
              </a:spcBef>
              <a:spcAft>
                <a:spcPts val="0"/>
              </a:spcAft>
              <a:buSzPts val="1100"/>
              <a:buChar char="○"/>
            </a:pPr>
            <a:r>
              <a:rPr lang="en"/>
              <a:t>Remember this breaks an expo project!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A Quick Aside About react-native link</a:t>
            </a:r>
            <a:endParaRPr/>
          </a:p>
        </p:txBody>
      </p:sp>
      <p:sp>
        <p:nvSpPr>
          <p:cNvPr id="158" name="Google Shape;158;p17"/>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lnSpcReduction="10000"/>
          </a:bodyPr>
          <a:lstStyle/>
          <a:p>
            <a:pPr indent="-311150" lvl="0" marL="457200" rtl="0" algn="l">
              <a:spcBef>
                <a:spcPts val="0"/>
              </a:spcBef>
              <a:spcAft>
                <a:spcPts val="0"/>
              </a:spcAft>
              <a:buSzPts val="1300"/>
              <a:buChar char="●"/>
            </a:pPr>
            <a:r>
              <a:rPr lang="en"/>
              <a:t>A question you might have asked is why does using this command break an expo project?</a:t>
            </a:r>
            <a:endParaRPr/>
          </a:p>
          <a:p>
            <a:pPr indent="-311150" lvl="0" marL="457200" rtl="0" algn="l">
              <a:spcBef>
                <a:spcPts val="0"/>
              </a:spcBef>
              <a:spcAft>
                <a:spcPts val="0"/>
              </a:spcAft>
              <a:buSzPts val="1300"/>
              <a:buChar char="●"/>
            </a:pPr>
            <a:r>
              <a:rPr lang="en"/>
              <a:t>If you look around, you usually find an answer along the lines of “react native has many core feature bugs that they just don’t fix” and that this is just one of those bugs</a:t>
            </a:r>
            <a:endParaRPr/>
          </a:p>
          <a:p>
            <a:pPr indent="-311150" lvl="0" marL="457200" rtl="0" algn="l">
              <a:spcBef>
                <a:spcPts val="0"/>
              </a:spcBef>
              <a:spcAft>
                <a:spcPts val="0"/>
              </a:spcAft>
              <a:buSzPts val="1300"/>
              <a:buChar char="●"/>
            </a:pPr>
            <a:r>
              <a:rPr lang="en"/>
              <a:t>Using the link command can break a lot more than just expo apps</a:t>
            </a:r>
            <a:endParaRPr/>
          </a:p>
          <a:p>
            <a:pPr indent="-311150" lvl="0" marL="457200" rtl="0" algn="l">
              <a:spcBef>
                <a:spcPts val="0"/>
              </a:spcBef>
              <a:spcAft>
                <a:spcPts val="0"/>
              </a:spcAft>
              <a:buSzPts val="1300"/>
              <a:buChar char="●"/>
            </a:pPr>
            <a:r>
              <a:rPr lang="en"/>
              <a:t>A reasonable follow up question then is why don’t they fix these bugs?</a:t>
            </a:r>
            <a:endParaRPr/>
          </a:p>
          <a:p>
            <a:pPr indent="-311150" lvl="0" marL="457200" rtl="0" algn="l">
              <a:spcBef>
                <a:spcPts val="0"/>
              </a:spcBef>
              <a:spcAft>
                <a:spcPts val="0"/>
              </a:spcAft>
              <a:buSzPts val="1300"/>
              <a:buChar char="●"/>
            </a:pPr>
            <a:r>
              <a:rPr lang="en"/>
              <a:t>Who knows?</a:t>
            </a:r>
            <a:endParaRPr/>
          </a:p>
          <a:p>
            <a:pPr indent="-311150" lvl="0" marL="457200" rtl="0" algn="l">
              <a:spcBef>
                <a:spcPts val="0"/>
              </a:spcBef>
              <a:spcAft>
                <a:spcPts val="0"/>
              </a:spcAft>
              <a:buSzPts val="1300"/>
              <a:buChar char="●"/>
            </a:pPr>
            <a:r>
              <a:rPr lang="en"/>
              <a:t>However, in the case of </a:t>
            </a:r>
            <a:r>
              <a:rPr i="1" lang="en"/>
              <a:t>link</a:t>
            </a:r>
            <a:r>
              <a:rPr lang="en"/>
              <a:t> (and </a:t>
            </a:r>
            <a:r>
              <a:rPr i="1" lang="en"/>
              <a:t>unlink</a:t>
            </a:r>
            <a:r>
              <a:rPr lang="en"/>
              <a:t>) it might be because the most recent version of the react CLI included a breaking change that removed both of these commands</a:t>
            </a:r>
            <a:endParaRPr/>
          </a:p>
          <a:p>
            <a:pPr indent="-311150" lvl="0" marL="457200" rtl="0" algn="l">
              <a:spcBef>
                <a:spcPts val="0"/>
              </a:spcBef>
              <a:spcAft>
                <a:spcPts val="0"/>
              </a:spcAft>
              <a:buSzPts val="1300"/>
              <a:buChar char="●"/>
            </a:pPr>
            <a:r>
              <a:rPr lang="en"/>
              <a:t>This was done only a few weeks before this module was designed</a:t>
            </a:r>
            <a:endParaRPr/>
          </a:p>
          <a:p>
            <a:pPr indent="-311150" lvl="0" marL="457200" rtl="0" algn="l">
              <a:spcBef>
                <a:spcPts val="0"/>
              </a:spcBef>
              <a:spcAft>
                <a:spcPts val="0"/>
              </a:spcAft>
              <a:buSzPts val="1300"/>
              <a:buChar char="●"/>
            </a:pPr>
            <a:r>
              <a:rPr lang="en"/>
              <a:t>It is included because the book talks about it, and because the replacement (auto linking) is not yet well </a:t>
            </a:r>
            <a:r>
              <a:rPr lang="en"/>
              <a:t>understood by the community</a:t>
            </a:r>
            <a:endParaRPr/>
          </a:p>
          <a:p>
            <a:pPr indent="-311150" lvl="0" marL="457200" rtl="0" algn="l">
              <a:spcBef>
                <a:spcPts val="0"/>
              </a:spcBef>
              <a:spcAft>
                <a:spcPts val="0"/>
              </a:spcAft>
              <a:buSzPts val="1300"/>
              <a:buChar char="●"/>
            </a:pPr>
            <a:r>
              <a:rPr lang="en"/>
              <a:t>But this is also why we do not spend a lot of time on this problem</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Continuing with NativeBase</a:t>
            </a:r>
            <a:endParaRPr/>
          </a:p>
        </p:txBody>
      </p:sp>
      <p:sp>
        <p:nvSpPr>
          <p:cNvPr id="164" name="Google Shape;164;p18"/>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lnSpcReduction="10000"/>
          </a:bodyPr>
          <a:lstStyle/>
          <a:p>
            <a:pPr indent="-311150" lvl="0" marL="457200" rtl="0" algn="l">
              <a:spcBef>
                <a:spcPts val="0"/>
              </a:spcBef>
              <a:spcAft>
                <a:spcPts val="0"/>
              </a:spcAft>
              <a:buSzPts val="1300"/>
              <a:buChar char="●"/>
            </a:pPr>
            <a:r>
              <a:rPr lang="en"/>
              <a:t>NativeBase contains a couple of cool features</a:t>
            </a:r>
            <a:endParaRPr/>
          </a:p>
          <a:p>
            <a:pPr indent="-298450" lvl="1" marL="914400" rtl="0" algn="l">
              <a:spcBef>
                <a:spcPts val="0"/>
              </a:spcBef>
              <a:spcAft>
                <a:spcPts val="0"/>
              </a:spcAft>
              <a:buSzPts val="1100"/>
              <a:buChar char="○"/>
            </a:pPr>
            <a:r>
              <a:rPr lang="en"/>
              <a:t>FABs - Floating Action Buttons for primary actions</a:t>
            </a:r>
            <a:endParaRPr/>
          </a:p>
          <a:p>
            <a:pPr indent="-298450" lvl="1" marL="914400" rtl="0" algn="l">
              <a:spcBef>
                <a:spcPts val="0"/>
              </a:spcBef>
              <a:spcAft>
                <a:spcPts val="0"/>
              </a:spcAft>
              <a:buSzPts val="1100"/>
              <a:buChar char="○"/>
            </a:pPr>
            <a:r>
              <a:rPr lang="en"/>
              <a:t>Spinners - For easily showing loading</a:t>
            </a:r>
            <a:endParaRPr/>
          </a:p>
          <a:p>
            <a:pPr indent="-298450" lvl="1" marL="914400" rtl="0" algn="l">
              <a:spcBef>
                <a:spcPts val="0"/>
              </a:spcBef>
              <a:spcAft>
                <a:spcPts val="0"/>
              </a:spcAft>
              <a:buSzPts val="1100"/>
              <a:buChar char="○"/>
            </a:pPr>
            <a:r>
              <a:rPr lang="en"/>
              <a:t>Toasts - Small notifications that pop up on the bottom of your screen</a:t>
            </a:r>
            <a:endParaRPr/>
          </a:p>
          <a:p>
            <a:pPr indent="-311150" lvl="0" marL="457200" rtl="0" algn="l">
              <a:spcBef>
                <a:spcPts val="0"/>
              </a:spcBef>
              <a:spcAft>
                <a:spcPts val="0"/>
              </a:spcAft>
              <a:buSzPts val="1300"/>
              <a:buChar char="●"/>
            </a:pPr>
            <a:r>
              <a:rPr lang="en"/>
              <a:t>A Fab is a regular element that can be added to a View</a:t>
            </a:r>
            <a:endParaRPr/>
          </a:p>
          <a:p>
            <a:pPr indent="-311150" lvl="0" marL="457200" rtl="0" algn="l">
              <a:spcBef>
                <a:spcPts val="0"/>
              </a:spcBef>
              <a:spcAft>
                <a:spcPts val="0"/>
              </a:spcAft>
              <a:buSzPts val="1300"/>
              <a:buChar char="●"/>
            </a:pPr>
            <a:r>
              <a:rPr lang="en"/>
              <a:t>It takes a position as a string which will determine where the icon will appear</a:t>
            </a:r>
            <a:endParaRPr/>
          </a:p>
          <a:p>
            <a:pPr indent="-311150" lvl="0" marL="457200" rtl="0" algn="l">
              <a:spcBef>
                <a:spcPts val="0"/>
              </a:spcBef>
              <a:spcAft>
                <a:spcPts val="0"/>
              </a:spcAft>
              <a:buSzPts val="1300"/>
              <a:buChar char="●"/>
            </a:pPr>
            <a:r>
              <a:rPr lang="en"/>
              <a:t>A spinner is also an element that can be easily added to any View</a:t>
            </a:r>
            <a:endParaRPr/>
          </a:p>
          <a:p>
            <a:pPr indent="-311150" lvl="0" marL="457200" rtl="0" algn="l">
              <a:spcBef>
                <a:spcPts val="0"/>
              </a:spcBef>
              <a:spcAft>
                <a:spcPts val="0"/>
              </a:spcAft>
              <a:buSzPts val="1300"/>
              <a:buChar char="●"/>
            </a:pPr>
            <a:r>
              <a:rPr lang="en"/>
              <a:t>You likely want to use a boolean to determine whether or not to show the spinner</a:t>
            </a:r>
            <a:endParaRPr/>
          </a:p>
          <a:p>
            <a:pPr indent="-311150" lvl="0" marL="457200" rtl="0" algn="l">
              <a:spcBef>
                <a:spcPts val="0"/>
              </a:spcBef>
              <a:spcAft>
                <a:spcPts val="0"/>
              </a:spcAft>
              <a:buSzPts val="1300"/>
              <a:buChar char="●"/>
            </a:pPr>
            <a:r>
              <a:rPr lang="en"/>
              <a:t>Toasts are usually used for onPress actions</a:t>
            </a:r>
            <a:endParaRPr/>
          </a:p>
          <a:p>
            <a:pPr indent="-311150" lvl="0" marL="457200" rtl="0" algn="l">
              <a:spcBef>
                <a:spcPts val="0"/>
              </a:spcBef>
              <a:spcAft>
                <a:spcPts val="0"/>
              </a:spcAft>
              <a:buSzPts val="1300"/>
              <a:buChar char="●"/>
            </a:pPr>
            <a:r>
              <a:rPr lang="en"/>
              <a:t>You call Toast.show and pass it the text to display as well as the text for the button to close it</a:t>
            </a:r>
            <a:endParaRPr/>
          </a:p>
          <a:p>
            <a:pPr indent="-311150" lvl="0" marL="457200" rtl="0" algn="l">
              <a:spcBef>
                <a:spcPts val="0"/>
              </a:spcBef>
              <a:spcAft>
                <a:spcPts val="0"/>
              </a:spcAft>
              <a:buSzPts val="1300"/>
              <a:buChar char="●"/>
            </a:pPr>
            <a:r>
              <a:rPr lang="en"/>
              <a:t>Quick note: If you’re using expo, NativeBase recommends loading the fonts asynchronously during </a:t>
            </a:r>
            <a:r>
              <a:rPr i="1" lang="en"/>
              <a:t>componentWillMount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Font Loading</a:t>
            </a:r>
            <a:endParaRPr/>
          </a:p>
        </p:txBody>
      </p:sp>
      <p:pic>
        <p:nvPicPr>
          <p:cNvPr id="170" name="Google Shape;170;p19"/>
          <p:cNvPicPr preferRelativeResize="0"/>
          <p:nvPr/>
        </p:nvPicPr>
        <p:blipFill>
          <a:blip r:embed="rId3">
            <a:alphaModFix/>
          </a:blip>
          <a:stretch>
            <a:fillRect/>
          </a:stretch>
        </p:blipFill>
        <p:spPr>
          <a:xfrm>
            <a:off x="706863" y="1307850"/>
            <a:ext cx="7730275" cy="27715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Example Spinner</a:t>
            </a:r>
            <a:endParaRPr/>
          </a:p>
        </p:txBody>
      </p:sp>
      <p:pic>
        <p:nvPicPr>
          <p:cNvPr id="176" name="Google Shape;176;p20"/>
          <p:cNvPicPr preferRelativeResize="0"/>
          <p:nvPr/>
        </p:nvPicPr>
        <p:blipFill>
          <a:blip r:embed="rId3">
            <a:alphaModFix/>
          </a:blip>
          <a:stretch>
            <a:fillRect/>
          </a:stretch>
        </p:blipFill>
        <p:spPr>
          <a:xfrm>
            <a:off x="2207888" y="1307850"/>
            <a:ext cx="5218117" cy="38356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Example FAB</a:t>
            </a:r>
            <a:endParaRPr/>
          </a:p>
        </p:txBody>
      </p:sp>
      <p:pic>
        <p:nvPicPr>
          <p:cNvPr id="182" name="Google Shape;182;p21"/>
          <p:cNvPicPr preferRelativeResize="0"/>
          <p:nvPr/>
        </p:nvPicPr>
        <p:blipFill>
          <a:blip r:embed="rId3">
            <a:alphaModFix/>
          </a:blip>
          <a:stretch>
            <a:fillRect/>
          </a:stretch>
        </p:blipFill>
        <p:spPr>
          <a:xfrm>
            <a:off x="2661563" y="1307850"/>
            <a:ext cx="4310775" cy="383565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All That Looks Like</a:t>
            </a:r>
            <a:endParaRPr/>
          </a:p>
        </p:txBody>
      </p:sp>
      <p:pic>
        <p:nvPicPr>
          <p:cNvPr id="188" name="Google Shape;188;p22"/>
          <p:cNvPicPr preferRelativeResize="0"/>
          <p:nvPr/>
        </p:nvPicPr>
        <p:blipFill>
          <a:blip r:embed="rId3">
            <a:alphaModFix/>
          </a:blip>
          <a:stretch>
            <a:fillRect/>
          </a:stretch>
        </p:blipFill>
        <p:spPr>
          <a:xfrm>
            <a:off x="2452901" y="1307850"/>
            <a:ext cx="4238187" cy="38356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Toast Example</a:t>
            </a:r>
            <a:endParaRPr/>
          </a:p>
        </p:txBody>
      </p:sp>
      <p:pic>
        <p:nvPicPr>
          <p:cNvPr id="194" name="Google Shape;194;p23"/>
          <p:cNvPicPr preferRelativeResize="0"/>
          <p:nvPr/>
        </p:nvPicPr>
        <p:blipFill>
          <a:blip r:embed="rId3">
            <a:alphaModFix/>
          </a:blip>
          <a:stretch>
            <a:fillRect/>
          </a:stretch>
        </p:blipFill>
        <p:spPr>
          <a:xfrm>
            <a:off x="2896300" y="1307850"/>
            <a:ext cx="3351410" cy="38356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a Toast Looks Like</a:t>
            </a:r>
            <a:endParaRPr/>
          </a:p>
        </p:txBody>
      </p:sp>
      <p:pic>
        <p:nvPicPr>
          <p:cNvPr id="200" name="Google Shape;200;p24"/>
          <p:cNvPicPr preferRelativeResize="0"/>
          <p:nvPr/>
        </p:nvPicPr>
        <p:blipFill>
          <a:blip r:embed="rId3">
            <a:alphaModFix/>
          </a:blip>
          <a:stretch>
            <a:fillRect/>
          </a:stretch>
        </p:blipFill>
        <p:spPr>
          <a:xfrm>
            <a:off x="889563" y="1307850"/>
            <a:ext cx="7854782" cy="38356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25"/>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SpinKit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Using SpinKit</a:t>
            </a:r>
            <a:endParaRPr/>
          </a:p>
        </p:txBody>
      </p:sp>
      <p:sp>
        <p:nvSpPr>
          <p:cNvPr id="211" name="Google Shape;211;p26"/>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SpinKit is another example of a plugin that you can add to your react app</a:t>
            </a:r>
            <a:endParaRPr/>
          </a:p>
          <a:p>
            <a:pPr indent="-311150" lvl="0" marL="457200" rtl="0" algn="l">
              <a:spcBef>
                <a:spcPts val="0"/>
              </a:spcBef>
              <a:spcAft>
                <a:spcPts val="0"/>
              </a:spcAft>
              <a:buSzPts val="1300"/>
              <a:buChar char="●"/>
            </a:pPr>
            <a:r>
              <a:rPr lang="en"/>
              <a:t>It is likely inevitable that your app will at some point be waiting for an async process to complete</a:t>
            </a:r>
            <a:endParaRPr/>
          </a:p>
          <a:p>
            <a:pPr indent="-311150" lvl="0" marL="457200" rtl="0" algn="l">
              <a:spcBef>
                <a:spcPts val="0"/>
              </a:spcBef>
              <a:spcAft>
                <a:spcPts val="0"/>
              </a:spcAft>
              <a:buSzPts val="1300"/>
              <a:buChar char="●"/>
            </a:pPr>
            <a:r>
              <a:rPr lang="en"/>
              <a:t>Your app will not hang because it is an async process, but if nothing is moving the User might think it has</a:t>
            </a:r>
            <a:endParaRPr/>
          </a:p>
          <a:p>
            <a:pPr indent="-311150" lvl="0" marL="457200" rtl="0" algn="l">
              <a:spcBef>
                <a:spcPts val="0"/>
              </a:spcBef>
              <a:spcAft>
                <a:spcPts val="0"/>
              </a:spcAft>
              <a:buSzPts val="1300"/>
              <a:buChar char="●"/>
            </a:pPr>
            <a:r>
              <a:rPr lang="en"/>
              <a:t>SpinKit offers several loading indicators you might want to consider using</a:t>
            </a:r>
            <a:endParaRPr/>
          </a:p>
          <a:p>
            <a:pPr indent="-311150" lvl="0" marL="457200" rtl="0" algn="l">
              <a:spcBef>
                <a:spcPts val="0"/>
              </a:spcBef>
              <a:spcAft>
                <a:spcPts val="0"/>
              </a:spcAft>
              <a:buSzPts val="1300"/>
              <a:buChar char="●"/>
            </a:pPr>
            <a:r>
              <a:rPr lang="en"/>
              <a:t>SpinKit requires the use of </a:t>
            </a:r>
            <a:r>
              <a:rPr i="1" lang="en"/>
              <a:t>react-native link</a:t>
            </a:r>
            <a:r>
              <a:rPr lang="en"/>
              <a:t> so either create a pure react project or eject your app from expo before adding this plugin</a:t>
            </a:r>
            <a:endParaRPr/>
          </a:p>
          <a:p>
            <a:pPr indent="-311150" lvl="0" marL="457200" rtl="0" algn="l">
              <a:spcBef>
                <a:spcPts val="0"/>
              </a:spcBef>
              <a:spcAft>
                <a:spcPts val="0"/>
              </a:spcAft>
              <a:buSzPts val="1300"/>
              <a:buChar char="●"/>
            </a:pPr>
            <a:r>
              <a:rPr lang="en"/>
              <a:t>Add it to the project with:</a:t>
            </a:r>
            <a:endParaRPr/>
          </a:p>
          <a:p>
            <a:pPr indent="-298450" lvl="1" marL="914400" rtl="0" algn="l">
              <a:spcBef>
                <a:spcPts val="0"/>
              </a:spcBef>
              <a:spcAft>
                <a:spcPts val="0"/>
              </a:spcAft>
              <a:buSzPts val="1100"/>
              <a:buChar char="○"/>
            </a:pPr>
            <a:r>
              <a:rPr i="1" lang="en"/>
              <a:t>n</a:t>
            </a:r>
            <a:r>
              <a:rPr i="1" lang="en"/>
              <a:t>pm install react-native-spinkit@latest </a:t>
            </a:r>
            <a:r>
              <a:rPr i="1" lang="en"/>
              <a:t>--save </a:t>
            </a:r>
            <a:r>
              <a:rPr lang="en"/>
              <a:t>or </a:t>
            </a:r>
            <a:r>
              <a:rPr i="1" lang="en"/>
              <a:t>yarn add react-native-spinkit@latest</a:t>
            </a:r>
            <a:endParaRPr/>
          </a:p>
          <a:p>
            <a:pPr indent="-311150" lvl="0" marL="457200" rtl="0" algn="l">
              <a:spcBef>
                <a:spcPts val="0"/>
              </a:spcBef>
              <a:spcAft>
                <a:spcPts val="0"/>
              </a:spcAft>
              <a:buSzPts val="1300"/>
              <a:buChar char="●"/>
            </a:pPr>
            <a:r>
              <a:rPr lang="en"/>
              <a:t>Then do </a:t>
            </a:r>
            <a:r>
              <a:rPr i="1" lang="en"/>
              <a:t>react-native link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Types of Spinners</a:t>
            </a:r>
            <a:endParaRPr/>
          </a:p>
        </p:txBody>
      </p:sp>
      <p:pic>
        <p:nvPicPr>
          <p:cNvPr id="217" name="Google Shape;217;p27"/>
          <p:cNvPicPr preferRelativeResize="0"/>
          <p:nvPr/>
        </p:nvPicPr>
        <p:blipFill>
          <a:blip r:embed="rId3">
            <a:alphaModFix/>
          </a:blip>
          <a:stretch>
            <a:fillRect/>
          </a:stretch>
        </p:blipFill>
        <p:spPr>
          <a:xfrm>
            <a:off x="3718338" y="1307850"/>
            <a:ext cx="1707332" cy="38356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Using a Spinner</a:t>
            </a:r>
            <a:endParaRPr/>
          </a:p>
        </p:txBody>
      </p:sp>
      <p:pic>
        <p:nvPicPr>
          <p:cNvPr id="223" name="Google Shape;223;p28"/>
          <p:cNvPicPr preferRelativeResize="0"/>
          <p:nvPr/>
        </p:nvPicPr>
        <p:blipFill>
          <a:blip r:embed="rId3">
            <a:alphaModFix/>
          </a:blip>
          <a:stretch>
            <a:fillRect/>
          </a:stretch>
        </p:blipFill>
        <p:spPr>
          <a:xfrm>
            <a:off x="2132275" y="1307850"/>
            <a:ext cx="4879447" cy="38356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End of Using Third Party Plugins</a:t>
            </a:r>
            <a:endParaRPr/>
          </a:p>
        </p:txBody>
      </p:sp>
      <p:sp>
        <p:nvSpPr>
          <p:cNvPr id="229" name="Google Shape;229;p29"/>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That’s it for Module 12!</a:t>
            </a:r>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